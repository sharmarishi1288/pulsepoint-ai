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Quattrocento Sans" charset="-122" pitchFamily="34"/>
      <p:regular r:id="rId21"/>
    </p:embeddedFont>
    <p:embeddedFont>
      <p:font typeface="Hedvig Letters Sans" charset="-122" pitchFamily="34"/>
      <p:regular r:id="rId22"/>
    </p:embeddedFont>
    <p:embeddedFont>
      <p:font typeface="Liter" charset="-122" pitchFamily="34"/>
      <p:regular r:id="rId23"/>
    </p:embeddedFont>
    <p:embeddedFont>
      <p:font typeface="Mi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983e6e23342932f47c2fcf04355247c94126cf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8" r="1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7333456" y="900995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317">
                  <a:alpha val="95000"/>
                </a:srgbClr>
              </a:gs>
              <a:gs pos="50000">
                <a:srgbClr val="111317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138238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45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× Multimodal Processing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557338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spc="-450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PulsePoint</a:t>
            </a:r>
            <a:pPr>
              <a:lnSpc>
                <a:spcPct val="80000"/>
              </a:lnSpc>
            </a:pPr>
            <a:r>
              <a:rPr lang="en-US" sz="9000" b="1" spc="-450" kern="0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852738"/>
            <a:ext cx="870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Long-Form Wisdom into Viral Moments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86163"/>
            <a:ext cx="2438400" cy="19050"/>
          </a:xfrm>
          <a:custGeom>
            <a:avLst/>
            <a:gdLst/>
            <a:ahLst/>
            <a:cxnLst/>
            <a:rect l="l" t="t" r="r" b="b"/>
            <a:pathLst>
              <a:path w="2438400" h="19050">
                <a:moveTo>
                  <a:pt x="0" y="0"/>
                </a:moveTo>
                <a:lnTo>
                  <a:pt x="2438400" y="0"/>
                </a:lnTo>
                <a:lnTo>
                  <a:pt x="2438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91001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Extracting emotional peaks from hours of content, making high-level education snackable and shareable for modern audiences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1101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5306" y="52720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67313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434013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Intelligence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48794" y="51101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195241" y="527208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3810794" y="5167313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794" y="5434013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Analysis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30857" y="51101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413023" y="52720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6"/>
          <p:cNvSpPr/>
          <p:nvPr/>
        </p:nvSpPr>
        <p:spPr>
          <a:xfrm>
            <a:off x="5992857" y="5167313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92857" y="543401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99" y="333799"/>
            <a:ext cx="1159116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spc="21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Journey 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799" y="634218"/>
            <a:ext cx="11774752" cy="500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94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Content Paradox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799" y="1268435"/>
            <a:ext cx="1068156" cy="16690"/>
          </a:xfrm>
          <a:custGeom>
            <a:avLst/>
            <a:gdLst/>
            <a:ahLst/>
            <a:cxnLst/>
            <a:rect l="l" t="t" r="r" b="b"/>
            <a:pathLst>
              <a:path w="1068156" h="16690">
                <a:moveTo>
                  <a:pt x="0" y="0"/>
                </a:moveTo>
                <a:lnTo>
                  <a:pt x="1068156" y="0"/>
                </a:lnTo>
                <a:lnTo>
                  <a:pt x="1068156" y="16690"/>
                </a:lnTo>
                <a:lnTo>
                  <a:pt x="0" y="1669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49871" y="1685684"/>
            <a:ext cx="32144" cy="1593889"/>
          </a:xfrm>
          <a:custGeom>
            <a:avLst/>
            <a:gdLst/>
            <a:ahLst/>
            <a:cxnLst/>
            <a:rect l="l" t="t" r="r" b="b"/>
            <a:pathLst>
              <a:path w="32144" h="1593889">
                <a:moveTo>
                  <a:pt x="0" y="0"/>
                </a:moveTo>
                <a:lnTo>
                  <a:pt x="32144" y="0"/>
                </a:lnTo>
                <a:lnTo>
                  <a:pt x="32144" y="1593889"/>
                </a:lnTo>
                <a:lnTo>
                  <a:pt x="0" y="15938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66222" y="1819203"/>
            <a:ext cx="559947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222" y="2319901"/>
            <a:ext cx="549933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222" y="2653700"/>
            <a:ext cx="5474300" cy="49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Buried wisdom in long-form content, 8-second attention spans, and the manual editing nightmare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9871" y="3475680"/>
            <a:ext cx="32144" cy="1343540"/>
          </a:xfrm>
          <a:custGeom>
            <a:avLst/>
            <a:gdLst/>
            <a:ahLst/>
            <a:cxnLst/>
            <a:rect l="l" t="t" r="r" b="b"/>
            <a:pathLst>
              <a:path w="32144" h="1343540">
                <a:moveTo>
                  <a:pt x="0" y="0"/>
                </a:moveTo>
                <a:lnTo>
                  <a:pt x="32144" y="0"/>
                </a:lnTo>
                <a:lnTo>
                  <a:pt x="32144" y="1343540"/>
                </a:lnTo>
                <a:lnTo>
                  <a:pt x="0" y="13435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566222" y="3609199"/>
            <a:ext cx="559947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222" y="4109897"/>
            <a:ext cx="549933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222" y="4443696"/>
            <a:ext cx="5474300" cy="242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$100B short-form market, 82% of internet traffic, 75% consumption growth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9871" y="5021585"/>
            <a:ext cx="32144" cy="1593889"/>
          </a:xfrm>
          <a:custGeom>
            <a:avLst/>
            <a:gdLst/>
            <a:ahLst/>
            <a:cxnLst/>
            <a:rect l="l" t="t" r="r" b="b"/>
            <a:pathLst>
              <a:path w="32144" h="1593889">
                <a:moveTo>
                  <a:pt x="0" y="0"/>
                </a:moveTo>
                <a:lnTo>
                  <a:pt x="32144" y="0"/>
                </a:lnTo>
                <a:lnTo>
                  <a:pt x="32144" y="1593889"/>
                </a:lnTo>
                <a:lnTo>
                  <a:pt x="0" y="15938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222" y="5155105"/>
            <a:ext cx="559947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222" y="5655803"/>
            <a:ext cx="549933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222" y="5989602"/>
            <a:ext cx="5474300" cy="49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 platform with multimodal intelligence, smart cropping, and dynamic captions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6982" y="1685684"/>
            <a:ext cx="32144" cy="1593889"/>
          </a:xfrm>
          <a:custGeom>
            <a:avLst/>
            <a:gdLst/>
            <a:ahLst/>
            <a:cxnLst/>
            <a:rect l="l" t="t" r="r" b="b"/>
            <a:pathLst>
              <a:path w="32144" h="1593889">
                <a:moveTo>
                  <a:pt x="0" y="0"/>
                </a:moveTo>
                <a:lnTo>
                  <a:pt x="32144" y="0"/>
                </a:lnTo>
                <a:lnTo>
                  <a:pt x="32144" y="1593889"/>
                </a:lnTo>
                <a:lnTo>
                  <a:pt x="0" y="15938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63333" y="1819203"/>
            <a:ext cx="559947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3333" y="2319901"/>
            <a:ext cx="549933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3333" y="2653700"/>
            <a:ext cx="5474300" cy="49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AI engine fusing audio, visual, and text analysis with real-time processing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6982" y="3475680"/>
            <a:ext cx="32144" cy="1593889"/>
          </a:xfrm>
          <a:custGeom>
            <a:avLst/>
            <a:gdLst/>
            <a:ahLst/>
            <a:cxnLst/>
            <a:rect l="l" t="t" r="r" b="b"/>
            <a:pathLst>
              <a:path w="32144" h="1593889">
                <a:moveTo>
                  <a:pt x="0" y="0"/>
                </a:moveTo>
                <a:lnTo>
                  <a:pt x="32144" y="0"/>
                </a:lnTo>
                <a:lnTo>
                  <a:pt x="32144" y="1593889"/>
                </a:lnTo>
                <a:lnTo>
                  <a:pt x="0" y="159388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63333" y="3609199"/>
            <a:ext cx="5599474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3333" y="4109897"/>
            <a:ext cx="5499335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3333" y="4443696"/>
            <a:ext cx="5474300" cy="49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wisdom viral, roadmap to 10,000 users, and transforming educational content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8328" y="5273093"/>
            <a:ext cx="5614310" cy="849332"/>
          </a:xfrm>
          <a:custGeom>
            <a:avLst/>
            <a:gdLst/>
            <a:ahLst/>
            <a:cxnLst/>
            <a:rect l="l" t="t" r="r" b="b"/>
            <a:pathLst>
              <a:path w="5614310" h="849332">
                <a:moveTo>
                  <a:pt x="66758" y="0"/>
                </a:moveTo>
                <a:lnTo>
                  <a:pt x="5547552" y="0"/>
                </a:lnTo>
                <a:cubicBezTo>
                  <a:pt x="5584421" y="0"/>
                  <a:pt x="5614310" y="29888"/>
                  <a:pt x="5614310" y="66758"/>
                </a:cubicBezTo>
                <a:lnTo>
                  <a:pt x="5614310" y="782575"/>
                </a:lnTo>
                <a:cubicBezTo>
                  <a:pt x="5614310" y="819444"/>
                  <a:pt x="5584421" y="849332"/>
                  <a:pt x="5547552" y="849332"/>
                </a:cubicBezTo>
                <a:lnTo>
                  <a:pt x="66758" y="849332"/>
                </a:lnTo>
                <a:cubicBezTo>
                  <a:pt x="29888" y="849332"/>
                  <a:pt x="0" y="819444"/>
                  <a:pt x="0" y="782575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0699" y="5572585"/>
            <a:ext cx="187762" cy="250349"/>
          </a:xfrm>
          <a:custGeom>
            <a:avLst/>
            <a:gdLst/>
            <a:ahLst/>
            <a:cxnLst/>
            <a:rect l="l" t="t" r="r" b="b"/>
            <a:pathLst>
              <a:path w="187762" h="250349">
                <a:moveTo>
                  <a:pt x="143217" y="187762"/>
                </a:moveTo>
                <a:cubicBezTo>
                  <a:pt x="146787" y="176858"/>
                  <a:pt x="153926" y="166981"/>
                  <a:pt x="161993" y="158473"/>
                </a:cubicBezTo>
                <a:cubicBezTo>
                  <a:pt x="177983" y="141653"/>
                  <a:pt x="187762" y="118916"/>
                  <a:pt x="187762" y="93881"/>
                </a:cubicBezTo>
                <a:cubicBezTo>
                  <a:pt x="187762" y="42051"/>
                  <a:pt x="145711" y="0"/>
                  <a:pt x="93881" y="0"/>
                </a:cubicBezTo>
                <a:cubicBezTo>
                  <a:pt x="42051" y="0"/>
                  <a:pt x="0" y="42051"/>
                  <a:pt x="0" y="93881"/>
                </a:cubicBezTo>
                <a:cubicBezTo>
                  <a:pt x="0" y="118916"/>
                  <a:pt x="9779" y="141653"/>
                  <a:pt x="25768" y="158473"/>
                </a:cubicBezTo>
                <a:cubicBezTo>
                  <a:pt x="33836" y="166981"/>
                  <a:pt x="41024" y="176858"/>
                  <a:pt x="44545" y="187762"/>
                </a:cubicBezTo>
                <a:lnTo>
                  <a:pt x="143168" y="187762"/>
                </a:lnTo>
                <a:close/>
                <a:moveTo>
                  <a:pt x="140821" y="211232"/>
                </a:moveTo>
                <a:lnTo>
                  <a:pt x="46940" y="211232"/>
                </a:lnTo>
                <a:lnTo>
                  <a:pt x="46940" y="219055"/>
                </a:lnTo>
                <a:cubicBezTo>
                  <a:pt x="46940" y="240668"/>
                  <a:pt x="64445" y="258172"/>
                  <a:pt x="86057" y="258172"/>
                </a:cubicBezTo>
                <a:lnTo>
                  <a:pt x="101704" y="258172"/>
                </a:lnTo>
                <a:cubicBezTo>
                  <a:pt x="123316" y="258172"/>
                  <a:pt x="140821" y="240668"/>
                  <a:pt x="140821" y="219055"/>
                </a:cubicBezTo>
                <a:lnTo>
                  <a:pt x="140821" y="211232"/>
                </a:lnTo>
                <a:close/>
                <a:moveTo>
                  <a:pt x="89969" y="54764"/>
                </a:moveTo>
                <a:cubicBezTo>
                  <a:pt x="70508" y="54764"/>
                  <a:pt x="54764" y="70508"/>
                  <a:pt x="54764" y="89969"/>
                </a:cubicBezTo>
                <a:cubicBezTo>
                  <a:pt x="54764" y="96472"/>
                  <a:pt x="49532" y="101704"/>
                  <a:pt x="43029" y="101704"/>
                </a:cubicBezTo>
                <a:cubicBezTo>
                  <a:pt x="36526" y="101704"/>
                  <a:pt x="31294" y="96472"/>
                  <a:pt x="31294" y="89969"/>
                </a:cubicBezTo>
                <a:cubicBezTo>
                  <a:pt x="31294" y="57551"/>
                  <a:pt x="57551" y="31294"/>
                  <a:pt x="89969" y="31294"/>
                </a:cubicBezTo>
                <a:cubicBezTo>
                  <a:pt x="96472" y="31294"/>
                  <a:pt x="101704" y="36526"/>
                  <a:pt x="101704" y="43029"/>
                </a:cubicBezTo>
                <a:cubicBezTo>
                  <a:pt x="101704" y="49532"/>
                  <a:pt x="96472" y="54764"/>
                  <a:pt x="89969" y="5476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6892481" y="5480791"/>
            <a:ext cx="221141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Goal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2481" y="5714450"/>
            <a:ext cx="2194727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with multimodal peak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spc="224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93277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Attention Crisis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1175562"/>
            <a:ext cx="1139939" cy="17812"/>
          </a:xfrm>
          <a:custGeom>
            <a:avLst/>
            <a:gdLst/>
            <a:ahLst/>
            <a:cxnLst/>
            <a:rect l="l" t="t" r="r" b="b"/>
            <a:pathLst>
              <a:path w="1139939" h="17812">
                <a:moveTo>
                  <a:pt x="0" y="0"/>
                </a:moveTo>
                <a:lnTo>
                  <a:pt x="1139939" y="0"/>
                </a:lnTo>
                <a:lnTo>
                  <a:pt x="1139939" y="17812"/>
                </a:lnTo>
                <a:lnTo>
                  <a:pt x="0" y="1781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73383" y="1478358"/>
            <a:ext cx="6785538" cy="2190820"/>
          </a:xfrm>
          <a:custGeom>
            <a:avLst/>
            <a:gdLst/>
            <a:ahLst/>
            <a:cxnLst/>
            <a:rect l="l" t="t" r="r" b="b"/>
            <a:pathLst>
              <a:path w="6785538" h="2190820">
                <a:moveTo>
                  <a:pt x="0" y="0"/>
                </a:moveTo>
                <a:lnTo>
                  <a:pt x="6785538" y="0"/>
                </a:lnTo>
                <a:lnTo>
                  <a:pt x="6785538" y="2190820"/>
                </a:lnTo>
                <a:lnTo>
                  <a:pt x="0" y="21908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3383" y="1478358"/>
            <a:ext cx="34304" cy="2190820"/>
          </a:xfrm>
          <a:custGeom>
            <a:avLst/>
            <a:gdLst/>
            <a:ahLst/>
            <a:cxnLst/>
            <a:rect l="l" t="t" r="r" b="b"/>
            <a:pathLst>
              <a:path w="34304" h="2190820">
                <a:moveTo>
                  <a:pt x="0" y="0"/>
                </a:moveTo>
                <a:lnTo>
                  <a:pt x="34304" y="0"/>
                </a:lnTo>
                <a:lnTo>
                  <a:pt x="34304" y="2190820"/>
                </a:lnTo>
                <a:lnTo>
                  <a:pt x="0" y="21908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604273" y="1620850"/>
            <a:ext cx="6688234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Great Disconnect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4273" y="2083950"/>
            <a:ext cx="6643705" cy="872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Educators produce hours of high-value content.</a:t>
            </a:r>
            <a:pPr>
              <a:lnSpc>
                <a:spcPct val="140000"/>
              </a:lnSpc>
            </a:pPr>
            <a:r>
              <a:rPr lang="en-US" sz="140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 consume information in 60-second bursts. Valuable "golden nuggets" of wisdom are buried in 60-minute videos, making them inaccessible to the modern viewer.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4273" y="3094754"/>
            <a:ext cx="997446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0350" y="3183812"/>
            <a:ext cx="214629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short video for learning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0189" y="3846797"/>
            <a:ext cx="3320863" cy="1504086"/>
          </a:xfrm>
          <a:custGeom>
            <a:avLst/>
            <a:gdLst/>
            <a:ahLst/>
            <a:cxnLst/>
            <a:rect l="l" t="t" r="r" b="b"/>
            <a:pathLst>
              <a:path w="3320863" h="1504086">
                <a:moveTo>
                  <a:pt x="71249" y="0"/>
                </a:moveTo>
                <a:lnTo>
                  <a:pt x="3249614" y="0"/>
                </a:lnTo>
                <a:cubicBezTo>
                  <a:pt x="3288964" y="0"/>
                  <a:pt x="3320863" y="31899"/>
                  <a:pt x="3320863" y="71249"/>
                </a:cubicBezTo>
                <a:lnTo>
                  <a:pt x="3320863" y="1432837"/>
                </a:lnTo>
                <a:cubicBezTo>
                  <a:pt x="3320863" y="1472187"/>
                  <a:pt x="3288964" y="1504086"/>
                  <a:pt x="3249614" y="1504086"/>
                </a:cubicBezTo>
                <a:lnTo>
                  <a:pt x="71249" y="1504086"/>
                </a:lnTo>
                <a:cubicBezTo>
                  <a:pt x="31899" y="1504086"/>
                  <a:pt x="0" y="1472187"/>
                  <a:pt x="0" y="1432837"/>
                </a:cubicBezTo>
                <a:lnTo>
                  <a:pt x="0" y="71249"/>
                </a:lnTo>
                <a:cubicBezTo>
                  <a:pt x="0" y="31899"/>
                  <a:pt x="31899" y="0"/>
                  <a:pt x="71249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62" y="4028871"/>
            <a:ext cx="3223889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262" y="4634463"/>
            <a:ext cx="303686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Span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62" y="4955071"/>
            <a:ext cx="302796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goldfish level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32244" y="3846797"/>
            <a:ext cx="3320863" cy="1504086"/>
          </a:xfrm>
          <a:custGeom>
            <a:avLst/>
            <a:gdLst/>
            <a:ahLst/>
            <a:cxnLst/>
            <a:rect l="l" t="t" r="r" b="b"/>
            <a:pathLst>
              <a:path w="3320863" h="1504086">
                <a:moveTo>
                  <a:pt x="71249" y="0"/>
                </a:moveTo>
                <a:lnTo>
                  <a:pt x="3249614" y="0"/>
                </a:lnTo>
                <a:cubicBezTo>
                  <a:pt x="3288964" y="0"/>
                  <a:pt x="3320863" y="31899"/>
                  <a:pt x="3320863" y="71249"/>
                </a:cubicBezTo>
                <a:lnTo>
                  <a:pt x="3320863" y="1432837"/>
                </a:lnTo>
                <a:cubicBezTo>
                  <a:pt x="3320863" y="1472187"/>
                  <a:pt x="3288964" y="1504086"/>
                  <a:pt x="3249614" y="1504086"/>
                </a:cubicBezTo>
                <a:lnTo>
                  <a:pt x="71249" y="1504086"/>
                </a:lnTo>
                <a:cubicBezTo>
                  <a:pt x="31899" y="1504086"/>
                  <a:pt x="0" y="1472187"/>
                  <a:pt x="0" y="1432837"/>
                </a:cubicBezTo>
                <a:lnTo>
                  <a:pt x="0" y="71249"/>
                </a:lnTo>
                <a:cubicBezTo>
                  <a:pt x="0" y="31899"/>
                  <a:pt x="31899" y="0"/>
                  <a:pt x="71249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317" y="4028871"/>
            <a:ext cx="3223889" cy="53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4317" y="4634463"/>
            <a:ext cx="303686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Length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14317" y="4955071"/>
            <a:ext cx="302796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educational video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0189" y="5536915"/>
            <a:ext cx="6794113" cy="631320"/>
          </a:xfrm>
          <a:custGeom>
            <a:avLst/>
            <a:gdLst/>
            <a:ahLst/>
            <a:cxnLst/>
            <a:rect l="l" t="t" r="r" b="b"/>
            <a:pathLst>
              <a:path w="6794113" h="631320">
                <a:moveTo>
                  <a:pt x="71244" y="0"/>
                </a:moveTo>
                <a:lnTo>
                  <a:pt x="6722869" y="0"/>
                </a:lnTo>
                <a:cubicBezTo>
                  <a:pt x="6762216" y="0"/>
                  <a:pt x="6794113" y="31897"/>
                  <a:pt x="6794113" y="71244"/>
                </a:cubicBezTo>
                <a:lnTo>
                  <a:pt x="6794113" y="560076"/>
                </a:lnTo>
                <a:cubicBezTo>
                  <a:pt x="6794113" y="599423"/>
                  <a:pt x="6762216" y="631320"/>
                  <a:pt x="6722869" y="631320"/>
                </a:cubicBezTo>
                <a:lnTo>
                  <a:pt x="71244" y="631320"/>
                </a:lnTo>
                <a:cubicBezTo>
                  <a:pt x="31897" y="631320"/>
                  <a:pt x="0" y="599423"/>
                  <a:pt x="0" y="560076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8A8F9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886" y="5718989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133587" y="0"/>
                </a:moveTo>
                <a:cubicBezTo>
                  <a:pt x="141257" y="0"/>
                  <a:pt x="148302" y="4227"/>
                  <a:pt x="151955" y="10958"/>
                </a:cubicBezTo>
                <a:lnTo>
                  <a:pt x="264668" y="219687"/>
                </a:lnTo>
                <a:cubicBezTo>
                  <a:pt x="268165" y="226158"/>
                  <a:pt x="268008" y="233985"/>
                  <a:pt x="264251" y="240299"/>
                </a:cubicBezTo>
                <a:cubicBezTo>
                  <a:pt x="260494" y="246613"/>
                  <a:pt x="253658" y="250475"/>
                  <a:pt x="246300" y="250475"/>
                </a:cubicBezTo>
                <a:lnTo>
                  <a:pt x="20873" y="250475"/>
                </a:lnTo>
                <a:cubicBezTo>
                  <a:pt x="13515" y="250475"/>
                  <a:pt x="6732" y="246613"/>
                  <a:pt x="2922" y="240299"/>
                </a:cubicBezTo>
                <a:cubicBezTo>
                  <a:pt x="-887" y="233985"/>
                  <a:pt x="-991" y="226158"/>
                  <a:pt x="2505" y="219687"/>
                </a:cubicBezTo>
                <a:lnTo>
                  <a:pt x="115218" y="10958"/>
                </a:lnTo>
                <a:cubicBezTo>
                  <a:pt x="118871" y="4227"/>
                  <a:pt x="125916" y="0"/>
                  <a:pt x="133587" y="0"/>
                </a:cubicBezTo>
                <a:close/>
                <a:moveTo>
                  <a:pt x="133587" y="87666"/>
                </a:moveTo>
                <a:cubicBezTo>
                  <a:pt x="126646" y="87666"/>
                  <a:pt x="121063" y="93250"/>
                  <a:pt x="121063" y="100190"/>
                </a:cubicBezTo>
                <a:lnTo>
                  <a:pt x="121063" y="158634"/>
                </a:lnTo>
                <a:cubicBezTo>
                  <a:pt x="121063" y="165574"/>
                  <a:pt x="126646" y="171158"/>
                  <a:pt x="133587" y="171158"/>
                </a:cubicBezTo>
                <a:cubicBezTo>
                  <a:pt x="140527" y="171158"/>
                  <a:pt x="146110" y="165574"/>
                  <a:pt x="146110" y="158634"/>
                </a:cubicBezTo>
                <a:lnTo>
                  <a:pt x="146110" y="100190"/>
                </a:lnTo>
                <a:cubicBezTo>
                  <a:pt x="146110" y="93250"/>
                  <a:pt x="140527" y="87666"/>
                  <a:pt x="133587" y="87666"/>
                </a:cubicBezTo>
                <a:close/>
                <a:moveTo>
                  <a:pt x="147519" y="200380"/>
                </a:moveTo>
                <a:cubicBezTo>
                  <a:pt x="147836" y="195208"/>
                  <a:pt x="145257" y="190288"/>
                  <a:pt x="140824" y="187606"/>
                </a:cubicBezTo>
                <a:cubicBezTo>
                  <a:pt x="136390" y="184924"/>
                  <a:pt x="130835" y="184924"/>
                  <a:pt x="126402" y="187606"/>
                </a:cubicBezTo>
                <a:cubicBezTo>
                  <a:pt x="121968" y="190288"/>
                  <a:pt x="119389" y="195208"/>
                  <a:pt x="119706" y="200380"/>
                </a:cubicBezTo>
                <a:cubicBezTo>
                  <a:pt x="119389" y="205551"/>
                  <a:pt x="121968" y="210472"/>
                  <a:pt x="126402" y="213154"/>
                </a:cubicBezTo>
                <a:cubicBezTo>
                  <a:pt x="130835" y="215835"/>
                  <a:pt x="136390" y="215835"/>
                  <a:pt x="140824" y="213154"/>
                </a:cubicBezTo>
                <a:cubicBezTo>
                  <a:pt x="145257" y="210472"/>
                  <a:pt x="147836" y="205551"/>
                  <a:pt x="147519" y="20038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8721" y="5727894"/>
            <a:ext cx="529893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26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90%+ of educational content goes unwatched by modern audiences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31511" y="1478358"/>
            <a:ext cx="4541943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Consumption Gap</a:t>
            </a:r>
            <a:endParaRPr lang="en-US" sz="1600" dirty="0"/>
          </a:p>
        </p:txBody>
      </p:sp>
      <p:pic>
        <p:nvPicPr>
          <p:cNvPr id="23" name="Image 0" descr="https://kimi-img.moonshot.cn/pub/slides/26-01-17-17:05:56-d5ll1t136ak7sr3pdchg.png">    </p:cNvPr>
          <p:cNvPicPr>
            <a:picLocks noChangeAspect="1"/>
          </p:cNvPicPr>
          <p:nvPr/>
        </p:nvPicPr>
        <p:blipFill>
          <a:blip r:embed="rId1"/>
          <a:srcRect l="0" r="0" t="24" b="24"/>
          <a:stretch/>
        </p:blipFill>
        <p:spPr>
          <a:xfrm>
            <a:off x="7371587" y="1834589"/>
            <a:ext cx="4150089" cy="3562308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7388739" y="5659370"/>
            <a:ext cx="4443320" cy="605592"/>
          </a:xfrm>
          <a:custGeom>
            <a:avLst/>
            <a:gdLst/>
            <a:ahLst/>
            <a:cxnLst/>
            <a:rect l="l" t="t" r="r" b="b"/>
            <a:pathLst>
              <a:path w="4443320" h="605592">
                <a:moveTo>
                  <a:pt x="0" y="0"/>
                </a:moveTo>
                <a:lnTo>
                  <a:pt x="4443320" y="0"/>
                </a:lnTo>
                <a:lnTo>
                  <a:pt x="4443320" y="605592"/>
                </a:lnTo>
                <a:lnTo>
                  <a:pt x="0" y="605592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388739" y="5659370"/>
            <a:ext cx="34304" cy="605592"/>
          </a:xfrm>
          <a:custGeom>
            <a:avLst/>
            <a:gdLst/>
            <a:ahLst/>
            <a:cxnLst/>
            <a:rect l="l" t="t" r="r" b="b"/>
            <a:pathLst>
              <a:path w="34304" h="605592">
                <a:moveTo>
                  <a:pt x="0" y="0"/>
                </a:moveTo>
                <a:lnTo>
                  <a:pt x="34304" y="0"/>
                </a:lnTo>
                <a:lnTo>
                  <a:pt x="34304" y="605592"/>
                </a:lnTo>
                <a:lnTo>
                  <a:pt x="0" y="60559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3"/>
          <p:cNvSpPr/>
          <p:nvPr/>
        </p:nvSpPr>
        <p:spPr>
          <a:xfrm>
            <a:off x="7548383" y="5730617"/>
            <a:ext cx="4372733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Educators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48383" y="5979978"/>
            <a:ext cx="435492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2-4 hours content creation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88739" y="6371832"/>
            <a:ext cx="4443320" cy="605592"/>
          </a:xfrm>
          <a:custGeom>
            <a:avLst/>
            <a:gdLst/>
            <a:ahLst/>
            <a:cxnLst/>
            <a:rect l="l" t="t" r="r" b="b"/>
            <a:pathLst>
              <a:path w="4443320" h="605592">
                <a:moveTo>
                  <a:pt x="0" y="0"/>
                </a:moveTo>
                <a:lnTo>
                  <a:pt x="4443320" y="0"/>
                </a:lnTo>
                <a:lnTo>
                  <a:pt x="4443320" y="605592"/>
                </a:lnTo>
                <a:lnTo>
                  <a:pt x="0" y="605592"/>
                </a:lnTo>
                <a:lnTo>
                  <a:pt x="0" y="0"/>
                </a:lnTo>
                <a:close/>
              </a:path>
            </a:pathLst>
          </a:custGeom>
          <a:solidFill>
            <a:srgbClr val="8A8F98">
              <a:alpha val="5098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388739" y="6371832"/>
            <a:ext cx="34304" cy="605592"/>
          </a:xfrm>
          <a:custGeom>
            <a:avLst/>
            <a:gdLst/>
            <a:ahLst/>
            <a:cxnLst/>
            <a:rect l="l" t="t" r="r" b="b"/>
            <a:pathLst>
              <a:path w="34304" h="605592">
                <a:moveTo>
                  <a:pt x="0" y="0"/>
                </a:moveTo>
                <a:lnTo>
                  <a:pt x="34304" y="0"/>
                </a:lnTo>
                <a:lnTo>
                  <a:pt x="34304" y="605592"/>
                </a:lnTo>
                <a:lnTo>
                  <a:pt x="0" y="605592"/>
                </a:lnTo>
                <a:lnTo>
                  <a:pt x="0" y="0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0" name="Text 27"/>
          <p:cNvSpPr/>
          <p:nvPr/>
        </p:nvSpPr>
        <p:spPr>
          <a:xfrm>
            <a:off x="7548383" y="6443078"/>
            <a:ext cx="4372733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548383" y="6692440"/>
            <a:ext cx="435492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60-90 second consumption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spc="221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700812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$100B Short-Form Gold Rush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157801"/>
            <a:ext cx="1122717" cy="17542"/>
          </a:xfrm>
          <a:custGeom>
            <a:avLst/>
            <a:gdLst/>
            <a:ahLst/>
            <a:cxnLst/>
            <a:rect l="l" t="t" r="r" b="b"/>
            <a:pathLst>
              <a:path w="1122717" h="17542">
                <a:moveTo>
                  <a:pt x="0" y="0"/>
                </a:moveTo>
                <a:lnTo>
                  <a:pt x="1122717" y="0"/>
                </a:lnTo>
                <a:lnTo>
                  <a:pt x="1122717" y="17542"/>
                </a:lnTo>
                <a:lnTo>
                  <a:pt x="0" y="175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58646" y="1393650"/>
            <a:ext cx="2725901" cy="1348819"/>
          </a:xfrm>
          <a:custGeom>
            <a:avLst/>
            <a:gdLst/>
            <a:ahLst/>
            <a:cxnLst/>
            <a:rect l="l" t="t" r="r" b="b"/>
            <a:pathLst>
              <a:path w="2725901" h="1348819">
                <a:moveTo>
                  <a:pt x="70166" y="0"/>
                </a:moveTo>
                <a:lnTo>
                  <a:pt x="2655736" y="0"/>
                </a:lnTo>
                <a:cubicBezTo>
                  <a:pt x="2694487" y="0"/>
                  <a:pt x="2725901" y="31414"/>
                  <a:pt x="2725901" y="70166"/>
                </a:cubicBezTo>
                <a:lnTo>
                  <a:pt x="2725901" y="1278654"/>
                </a:lnTo>
                <a:cubicBezTo>
                  <a:pt x="2725901" y="1317405"/>
                  <a:pt x="2694487" y="1348819"/>
                  <a:pt x="2655736" y="1348819"/>
                </a:cubicBezTo>
                <a:lnTo>
                  <a:pt x="70166" y="1348819"/>
                </a:lnTo>
                <a:cubicBezTo>
                  <a:pt x="31414" y="1348819"/>
                  <a:pt x="0" y="1317405"/>
                  <a:pt x="0" y="1278654"/>
                </a:cubicBezTo>
                <a:lnTo>
                  <a:pt x="0" y="70166"/>
                </a:lnTo>
                <a:cubicBezTo>
                  <a:pt x="0" y="31440"/>
                  <a:pt x="31440" y="0"/>
                  <a:pt x="7016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612" y="1576869"/>
            <a:ext cx="2569968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396" y="2068058"/>
            <a:ext cx="243840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Traffic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6782" y="2348737"/>
            <a:ext cx="242962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by 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5565" y="1393650"/>
            <a:ext cx="2725901" cy="1348819"/>
          </a:xfrm>
          <a:custGeom>
            <a:avLst/>
            <a:gdLst/>
            <a:ahLst/>
            <a:cxnLst/>
            <a:rect l="l" t="t" r="r" b="b"/>
            <a:pathLst>
              <a:path w="2725901" h="1348819">
                <a:moveTo>
                  <a:pt x="70166" y="0"/>
                </a:moveTo>
                <a:lnTo>
                  <a:pt x="2655736" y="0"/>
                </a:lnTo>
                <a:cubicBezTo>
                  <a:pt x="2694487" y="0"/>
                  <a:pt x="2725901" y="31414"/>
                  <a:pt x="2725901" y="70166"/>
                </a:cubicBezTo>
                <a:lnTo>
                  <a:pt x="2725901" y="1278654"/>
                </a:lnTo>
                <a:cubicBezTo>
                  <a:pt x="2725901" y="1317405"/>
                  <a:pt x="2694487" y="1348819"/>
                  <a:pt x="2655736" y="1348819"/>
                </a:cubicBezTo>
                <a:lnTo>
                  <a:pt x="70166" y="1348819"/>
                </a:lnTo>
                <a:cubicBezTo>
                  <a:pt x="31414" y="1348819"/>
                  <a:pt x="0" y="1317405"/>
                  <a:pt x="0" y="1278654"/>
                </a:cubicBezTo>
                <a:lnTo>
                  <a:pt x="0" y="70166"/>
                </a:lnTo>
                <a:cubicBezTo>
                  <a:pt x="0" y="31440"/>
                  <a:pt x="31440" y="0"/>
                  <a:pt x="7016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3531" y="1576869"/>
            <a:ext cx="2569968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9315" y="2068058"/>
            <a:ext cx="243840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Consumption Growth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3701" y="2348737"/>
            <a:ext cx="242962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Short-form since 2020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2484" y="1393650"/>
            <a:ext cx="2725901" cy="1348819"/>
          </a:xfrm>
          <a:custGeom>
            <a:avLst/>
            <a:gdLst/>
            <a:ahLst/>
            <a:cxnLst/>
            <a:rect l="l" t="t" r="r" b="b"/>
            <a:pathLst>
              <a:path w="2725901" h="1348819">
                <a:moveTo>
                  <a:pt x="70166" y="0"/>
                </a:moveTo>
                <a:lnTo>
                  <a:pt x="2655736" y="0"/>
                </a:lnTo>
                <a:cubicBezTo>
                  <a:pt x="2694487" y="0"/>
                  <a:pt x="2725901" y="31414"/>
                  <a:pt x="2725901" y="70166"/>
                </a:cubicBezTo>
                <a:lnTo>
                  <a:pt x="2725901" y="1278654"/>
                </a:lnTo>
                <a:cubicBezTo>
                  <a:pt x="2725901" y="1317405"/>
                  <a:pt x="2694487" y="1348819"/>
                  <a:pt x="2655736" y="1348819"/>
                </a:cubicBezTo>
                <a:lnTo>
                  <a:pt x="70166" y="1348819"/>
                </a:lnTo>
                <a:cubicBezTo>
                  <a:pt x="31414" y="1348819"/>
                  <a:pt x="0" y="1317405"/>
                  <a:pt x="0" y="1278654"/>
                </a:cubicBezTo>
                <a:lnTo>
                  <a:pt x="0" y="70166"/>
                </a:lnTo>
                <a:cubicBezTo>
                  <a:pt x="0" y="31440"/>
                  <a:pt x="31440" y="0"/>
                  <a:pt x="7016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0450" y="1576869"/>
            <a:ext cx="2569968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234" y="2068058"/>
            <a:ext cx="243840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Usage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0620" y="2348737"/>
            <a:ext cx="242962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TikTok per user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09402" y="1393650"/>
            <a:ext cx="2725901" cy="1348819"/>
          </a:xfrm>
          <a:custGeom>
            <a:avLst/>
            <a:gdLst/>
            <a:ahLst/>
            <a:cxnLst/>
            <a:rect l="l" t="t" r="r" b="b"/>
            <a:pathLst>
              <a:path w="2725901" h="1348819">
                <a:moveTo>
                  <a:pt x="70166" y="0"/>
                </a:moveTo>
                <a:lnTo>
                  <a:pt x="2655736" y="0"/>
                </a:lnTo>
                <a:cubicBezTo>
                  <a:pt x="2694487" y="0"/>
                  <a:pt x="2725901" y="31414"/>
                  <a:pt x="2725901" y="70166"/>
                </a:cubicBezTo>
                <a:lnTo>
                  <a:pt x="2725901" y="1278654"/>
                </a:lnTo>
                <a:cubicBezTo>
                  <a:pt x="2725901" y="1317405"/>
                  <a:pt x="2694487" y="1348819"/>
                  <a:pt x="2655736" y="1348819"/>
                </a:cubicBezTo>
                <a:lnTo>
                  <a:pt x="70166" y="1348819"/>
                </a:lnTo>
                <a:cubicBezTo>
                  <a:pt x="31414" y="1348819"/>
                  <a:pt x="0" y="1317405"/>
                  <a:pt x="0" y="1278654"/>
                </a:cubicBezTo>
                <a:lnTo>
                  <a:pt x="0" y="70166"/>
                </a:lnTo>
                <a:cubicBezTo>
                  <a:pt x="0" y="31440"/>
                  <a:pt x="31440" y="0"/>
                  <a:pt x="7016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7369" y="1576869"/>
            <a:ext cx="2569968" cy="42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$140B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153" y="2068058"/>
            <a:ext cx="243840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 Spend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7539" y="2348737"/>
            <a:ext cx="242962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projection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4747" y="2964672"/>
            <a:ext cx="7586133" cy="3884677"/>
          </a:xfrm>
          <a:custGeom>
            <a:avLst/>
            <a:gdLst/>
            <a:ahLst/>
            <a:cxnLst/>
            <a:rect l="l" t="t" r="r" b="b"/>
            <a:pathLst>
              <a:path w="7586133" h="3884677">
                <a:moveTo>
                  <a:pt x="70157" y="0"/>
                </a:moveTo>
                <a:lnTo>
                  <a:pt x="7515976" y="0"/>
                </a:lnTo>
                <a:cubicBezTo>
                  <a:pt x="7554723" y="0"/>
                  <a:pt x="7586133" y="31410"/>
                  <a:pt x="7586133" y="70157"/>
                </a:cubicBezTo>
                <a:lnTo>
                  <a:pt x="7586133" y="3814520"/>
                </a:lnTo>
                <a:cubicBezTo>
                  <a:pt x="7586133" y="3853267"/>
                  <a:pt x="7554723" y="3884677"/>
                  <a:pt x="7515976" y="3884677"/>
                </a:cubicBezTo>
                <a:lnTo>
                  <a:pt x="70157" y="3884677"/>
                </a:lnTo>
                <a:cubicBezTo>
                  <a:pt x="31410" y="3884677"/>
                  <a:pt x="0" y="3853267"/>
                  <a:pt x="0" y="3814520"/>
                </a:cubicBezTo>
                <a:lnTo>
                  <a:pt x="0" y="70157"/>
                </a:lnTo>
                <a:cubicBezTo>
                  <a:pt x="0" y="31436"/>
                  <a:pt x="31436" y="0"/>
                  <a:pt x="70157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155" y="3179080"/>
            <a:ext cx="724503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Market Share</a:t>
            </a:r>
            <a:endParaRPr lang="en-US" sz="1600" dirty="0"/>
          </a:p>
        </p:txBody>
      </p:sp>
      <p:pic>
        <p:nvPicPr>
          <p:cNvPr id="23" name="Image 0" descr="https://kimi-img.moonshot.cn/pub/slides/26-01-17-17:05:57-d5ll1ta23rd1jvf06c60.png">    </p:cNvPr>
          <p:cNvPicPr>
            <a:picLocks noChangeAspect="1"/>
          </p:cNvPicPr>
          <p:nvPr/>
        </p:nvPicPr>
        <p:blipFill>
          <a:blip r:embed="rId1"/>
          <a:srcRect l="0" r="0" t="5" b="5"/>
          <a:stretch/>
        </p:blipFill>
        <p:spPr>
          <a:xfrm>
            <a:off x="569155" y="3565014"/>
            <a:ext cx="6508247" cy="2455942"/>
          </a:xfrm>
          <a:prstGeom prst="roundRect">
            <a:avLst>
              <a:gd name="adj" fmla="val 0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8169582" y="2960774"/>
            <a:ext cx="3674493" cy="1157801"/>
          </a:xfrm>
          <a:custGeom>
            <a:avLst/>
            <a:gdLst/>
            <a:ahLst/>
            <a:cxnLst/>
            <a:rect l="l" t="t" r="r" b="b"/>
            <a:pathLst>
              <a:path w="3674493" h="1157801">
                <a:moveTo>
                  <a:pt x="0" y="0"/>
                </a:moveTo>
                <a:lnTo>
                  <a:pt x="3674493" y="0"/>
                </a:lnTo>
                <a:lnTo>
                  <a:pt x="3674493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169582" y="2960774"/>
            <a:ext cx="33785" cy="1157801"/>
          </a:xfrm>
          <a:custGeom>
            <a:avLst/>
            <a:gdLst/>
            <a:ahLst/>
            <a:cxnLst/>
            <a:rect l="l" t="t" r="r" b="b"/>
            <a:pathLst>
              <a:path w="33785" h="1157801">
                <a:moveTo>
                  <a:pt x="0" y="0"/>
                </a:moveTo>
                <a:lnTo>
                  <a:pt x="33785" y="0"/>
                </a:lnTo>
                <a:lnTo>
                  <a:pt x="33785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3"/>
          <p:cNvSpPr/>
          <p:nvPr/>
        </p:nvSpPr>
        <p:spPr>
          <a:xfrm>
            <a:off x="8361899" y="3101113"/>
            <a:ext cx="3613744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61899" y="3487047"/>
            <a:ext cx="356111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Marketers Investing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61899" y="3767726"/>
            <a:ext cx="355234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Maintaining or increasing video spend in 2025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69582" y="4329085"/>
            <a:ext cx="3674493" cy="1157801"/>
          </a:xfrm>
          <a:custGeom>
            <a:avLst/>
            <a:gdLst/>
            <a:ahLst/>
            <a:cxnLst/>
            <a:rect l="l" t="t" r="r" b="b"/>
            <a:pathLst>
              <a:path w="3674493" h="1157801">
                <a:moveTo>
                  <a:pt x="0" y="0"/>
                </a:moveTo>
                <a:lnTo>
                  <a:pt x="3674493" y="0"/>
                </a:lnTo>
                <a:lnTo>
                  <a:pt x="3674493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169582" y="4329085"/>
            <a:ext cx="33785" cy="1157801"/>
          </a:xfrm>
          <a:custGeom>
            <a:avLst/>
            <a:gdLst/>
            <a:ahLst/>
            <a:cxnLst/>
            <a:rect l="l" t="t" r="r" b="b"/>
            <a:pathLst>
              <a:path w="33785" h="1157801">
                <a:moveTo>
                  <a:pt x="0" y="0"/>
                </a:moveTo>
                <a:lnTo>
                  <a:pt x="33785" y="0"/>
                </a:lnTo>
                <a:lnTo>
                  <a:pt x="33785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8"/>
          <p:cNvSpPr/>
          <p:nvPr/>
        </p:nvSpPr>
        <p:spPr>
          <a:xfrm>
            <a:off x="8361899" y="4469424"/>
            <a:ext cx="3613744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2.5x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361899" y="4855358"/>
            <a:ext cx="356111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Boost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61899" y="5136037"/>
            <a:ext cx="355234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Short-form vs. long-form on social platforms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69582" y="5697395"/>
            <a:ext cx="3674493" cy="1157801"/>
          </a:xfrm>
          <a:custGeom>
            <a:avLst/>
            <a:gdLst/>
            <a:ahLst/>
            <a:cxnLst/>
            <a:rect l="l" t="t" r="r" b="b"/>
            <a:pathLst>
              <a:path w="3674493" h="1157801">
                <a:moveTo>
                  <a:pt x="0" y="0"/>
                </a:moveTo>
                <a:lnTo>
                  <a:pt x="3674493" y="0"/>
                </a:lnTo>
                <a:lnTo>
                  <a:pt x="3674493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169582" y="5697395"/>
            <a:ext cx="33785" cy="1157801"/>
          </a:xfrm>
          <a:custGeom>
            <a:avLst/>
            <a:gdLst/>
            <a:ahLst/>
            <a:cxnLst/>
            <a:rect l="l" t="t" r="r" b="b"/>
            <a:pathLst>
              <a:path w="33785" h="1157801">
                <a:moveTo>
                  <a:pt x="0" y="0"/>
                </a:moveTo>
                <a:lnTo>
                  <a:pt x="33785" y="0"/>
                </a:lnTo>
                <a:lnTo>
                  <a:pt x="33785" y="1157801"/>
                </a:lnTo>
                <a:lnTo>
                  <a:pt x="0" y="115780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3"/>
          <p:cNvSpPr/>
          <p:nvPr/>
        </p:nvSpPr>
        <p:spPr>
          <a:xfrm>
            <a:off x="8361899" y="5837735"/>
            <a:ext cx="3613744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361899" y="6223669"/>
            <a:ext cx="356111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 Z Consumption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361899" y="6504348"/>
            <a:ext cx="355234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3+ hours daily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226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Pain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Meet the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181604"/>
            <a:ext cx="1145797" cy="17903"/>
          </a:xfrm>
          <a:custGeom>
            <a:avLst/>
            <a:gdLst/>
            <a:ahLst/>
            <a:cxnLst/>
            <a:rect l="l" t="t" r="r" b="b"/>
            <a:pathLst>
              <a:path w="1145797" h="17903">
                <a:moveTo>
                  <a:pt x="0" y="0"/>
                </a:moveTo>
                <a:lnTo>
                  <a:pt x="1145797" y="0"/>
                </a:lnTo>
                <a:lnTo>
                  <a:pt x="1145797" y="17903"/>
                </a:lnTo>
                <a:lnTo>
                  <a:pt x="0" y="1790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75302" y="1414344"/>
            <a:ext cx="7805081" cy="1745551"/>
          </a:xfrm>
          <a:custGeom>
            <a:avLst/>
            <a:gdLst/>
            <a:ahLst/>
            <a:cxnLst/>
            <a:rect l="l" t="t" r="r" b="b"/>
            <a:pathLst>
              <a:path w="7805081" h="1745551">
                <a:moveTo>
                  <a:pt x="0" y="0"/>
                </a:moveTo>
                <a:lnTo>
                  <a:pt x="7805081" y="0"/>
                </a:lnTo>
                <a:lnTo>
                  <a:pt x="7805081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5302" y="1414344"/>
            <a:ext cx="34480" cy="1745551"/>
          </a:xfrm>
          <a:custGeom>
            <a:avLst/>
            <a:gdLst/>
            <a:ahLst/>
            <a:cxnLst/>
            <a:rect l="l" t="t" r="r" b="b"/>
            <a:pathLst>
              <a:path w="34480" h="1745551">
                <a:moveTo>
                  <a:pt x="0" y="0"/>
                </a:moveTo>
                <a:lnTo>
                  <a:pt x="34480" y="0"/>
                </a:lnTo>
                <a:lnTo>
                  <a:pt x="34480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573810" y="1544016"/>
            <a:ext cx="335683" cy="268546"/>
          </a:xfrm>
          <a:custGeom>
            <a:avLst/>
            <a:gdLst/>
            <a:ahLst/>
            <a:cxnLst/>
            <a:rect l="l" t="t" r="r" b="b"/>
            <a:pathLst>
              <a:path w="335683" h="268546">
                <a:moveTo>
                  <a:pt x="67137" y="50352"/>
                </a:moveTo>
                <a:cubicBezTo>
                  <a:pt x="67137" y="31837"/>
                  <a:pt x="82190" y="16784"/>
                  <a:pt x="100705" y="16784"/>
                </a:cubicBezTo>
                <a:lnTo>
                  <a:pt x="285330" y="16784"/>
                </a:lnTo>
                <a:cubicBezTo>
                  <a:pt x="303845" y="16784"/>
                  <a:pt x="318899" y="31837"/>
                  <a:pt x="318899" y="50352"/>
                </a:cubicBezTo>
                <a:lnTo>
                  <a:pt x="318899" y="176233"/>
                </a:lnTo>
                <a:lnTo>
                  <a:pt x="268546" y="176233"/>
                </a:lnTo>
                <a:lnTo>
                  <a:pt x="268546" y="167841"/>
                </a:lnTo>
                <a:cubicBezTo>
                  <a:pt x="268546" y="158558"/>
                  <a:pt x="261046" y="151057"/>
                  <a:pt x="251762" y="151057"/>
                </a:cubicBezTo>
                <a:lnTo>
                  <a:pt x="218194" y="151057"/>
                </a:lnTo>
                <a:cubicBezTo>
                  <a:pt x="208910" y="151057"/>
                  <a:pt x="201410" y="158558"/>
                  <a:pt x="201410" y="167841"/>
                </a:cubicBezTo>
                <a:lnTo>
                  <a:pt x="201410" y="176233"/>
                </a:lnTo>
                <a:lnTo>
                  <a:pt x="133696" y="176233"/>
                </a:lnTo>
                <a:cubicBezTo>
                  <a:pt x="139413" y="166373"/>
                  <a:pt x="142665" y="154886"/>
                  <a:pt x="142665" y="142665"/>
                </a:cubicBezTo>
                <a:cubicBezTo>
                  <a:pt x="142665" y="105583"/>
                  <a:pt x="112611" y="75529"/>
                  <a:pt x="75529" y="75529"/>
                </a:cubicBezTo>
                <a:cubicBezTo>
                  <a:pt x="72696" y="75529"/>
                  <a:pt x="69864" y="75686"/>
                  <a:pt x="67137" y="76053"/>
                </a:cubicBezTo>
                <a:lnTo>
                  <a:pt x="67137" y="50352"/>
                </a:lnTo>
                <a:close/>
                <a:moveTo>
                  <a:pt x="174660" y="234978"/>
                </a:moveTo>
                <a:cubicBezTo>
                  <a:pt x="171985" y="222285"/>
                  <a:pt x="166111" y="210798"/>
                  <a:pt x="157823" y="201410"/>
                </a:cubicBezTo>
                <a:lnTo>
                  <a:pt x="318899" y="201410"/>
                </a:lnTo>
                <a:cubicBezTo>
                  <a:pt x="318899" y="219925"/>
                  <a:pt x="303845" y="234978"/>
                  <a:pt x="285330" y="234978"/>
                </a:cubicBezTo>
                <a:lnTo>
                  <a:pt x="174660" y="234978"/>
                </a:lnTo>
                <a:close/>
                <a:moveTo>
                  <a:pt x="33568" y="142665"/>
                </a:moveTo>
                <a:cubicBezTo>
                  <a:pt x="33568" y="119507"/>
                  <a:pt x="52370" y="100705"/>
                  <a:pt x="75529" y="100705"/>
                </a:cubicBezTo>
                <a:cubicBezTo>
                  <a:pt x="98687" y="100705"/>
                  <a:pt x="117489" y="119507"/>
                  <a:pt x="117489" y="142665"/>
                </a:cubicBezTo>
                <a:cubicBezTo>
                  <a:pt x="117489" y="165824"/>
                  <a:pt x="98687" y="184626"/>
                  <a:pt x="75529" y="184626"/>
                </a:cubicBezTo>
                <a:cubicBezTo>
                  <a:pt x="52370" y="184626"/>
                  <a:pt x="33568" y="165824"/>
                  <a:pt x="33568" y="142665"/>
                </a:cubicBezTo>
                <a:close/>
                <a:moveTo>
                  <a:pt x="0" y="251762"/>
                </a:moveTo>
                <a:cubicBezTo>
                  <a:pt x="0" y="223963"/>
                  <a:pt x="22554" y="201410"/>
                  <a:pt x="50352" y="201410"/>
                </a:cubicBezTo>
                <a:lnTo>
                  <a:pt x="100705" y="201410"/>
                </a:lnTo>
                <a:cubicBezTo>
                  <a:pt x="128504" y="201410"/>
                  <a:pt x="151057" y="223963"/>
                  <a:pt x="151057" y="251762"/>
                </a:cubicBezTo>
                <a:cubicBezTo>
                  <a:pt x="151057" y="261046"/>
                  <a:pt x="143557" y="268546"/>
                  <a:pt x="134273" y="268546"/>
                </a:cubicBezTo>
                <a:lnTo>
                  <a:pt x="16784" y="268546"/>
                </a:lnTo>
                <a:cubicBezTo>
                  <a:pt x="7500" y="268546"/>
                  <a:pt x="0" y="261046"/>
                  <a:pt x="0" y="25176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50480" y="1535065"/>
            <a:ext cx="151281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Dr. Sarah Chen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73" y="1928933"/>
            <a:ext cx="768937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Professor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73" y="2286994"/>
            <a:ext cx="7680423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2-hour weekly lectures on machine learning. Spends 6+ hours manually editing, but students only watch 5-10 minute clips on TikTok.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73" y="2824087"/>
            <a:ext cx="768042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workflow: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→ Review → Manually clip → Add captions → Export → Upload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302" y="3302911"/>
            <a:ext cx="7805081" cy="1745551"/>
          </a:xfrm>
          <a:custGeom>
            <a:avLst/>
            <a:gdLst/>
            <a:ahLst/>
            <a:cxnLst/>
            <a:rect l="l" t="t" r="r" b="b"/>
            <a:pathLst>
              <a:path w="7805081" h="1745551">
                <a:moveTo>
                  <a:pt x="0" y="0"/>
                </a:moveTo>
                <a:lnTo>
                  <a:pt x="7805081" y="0"/>
                </a:lnTo>
                <a:lnTo>
                  <a:pt x="7805081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8A8F98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5302" y="3302911"/>
            <a:ext cx="34480" cy="1745551"/>
          </a:xfrm>
          <a:custGeom>
            <a:avLst/>
            <a:gdLst/>
            <a:ahLst/>
            <a:cxnLst/>
            <a:rect l="l" t="t" r="r" b="b"/>
            <a:pathLst>
              <a:path w="34480" h="1745551">
                <a:moveTo>
                  <a:pt x="0" y="0"/>
                </a:moveTo>
                <a:lnTo>
                  <a:pt x="34480" y="0"/>
                </a:lnTo>
                <a:lnTo>
                  <a:pt x="34480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947" y="3432584"/>
            <a:ext cx="201410" cy="268546"/>
          </a:xfrm>
          <a:custGeom>
            <a:avLst/>
            <a:gdLst/>
            <a:ahLst/>
            <a:cxnLst/>
            <a:rect l="l" t="t" r="r" b="b"/>
            <a:pathLst>
              <a:path w="201410" h="268546">
                <a:moveTo>
                  <a:pt x="50352" y="50352"/>
                </a:moveTo>
                <a:cubicBezTo>
                  <a:pt x="50352" y="22554"/>
                  <a:pt x="72906" y="0"/>
                  <a:pt x="100705" y="0"/>
                </a:cubicBezTo>
                <a:cubicBezTo>
                  <a:pt x="127087" y="0"/>
                  <a:pt x="148749" y="20298"/>
                  <a:pt x="150900" y="46156"/>
                </a:cubicBezTo>
                <a:lnTo>
                  <a:pt x="121685" y="46156"/>
                </a:lnTo>
                <a:cubicBezTo>
                  <a:pt x="114709" y="46156"/>
                  <a:pt x="109097" y="51769"/>
                  <a:pt x="109097" y="58744"/>
                </a:cubicBezTo>
                <a:cubicBezTo>
                  <a:pt x="109097" y="65720"/>
                  <a:pt x="114709" y="71333"/>
                  <a:pt x="121685" y="71333"/>
                </a:cubicBezTo>
                <a:lnTo>
                  <a:pt x="151057" y="71333"/>
                </a:lnTo>
                <a:lnTo>
                  <a:pt x="151057" y="96509"/>
                </a:lnTo>
                <a:lnTo>
                  <a:pt x="121685" y="96509"/>
                </a:lnTo>
                <a:cubicBezTo>
                  <a:pt x="114709" y="96509"/>
                  <a:pt x="109097" y="102121"/>
                  <a:pt x="109097" y="109097"/>
                </a:cubicBezTo>
                <a:cubicBezTo>
                  <a:pt x="109097" y="116073"/>
                  <a:pt x="114709" y="121685"/>
                  <a:pt x="121685" y="121685"/>
                </a:cubicBezTo>
                <a:lnTo>
                  <a:pt x="150900" y="121685"/>
                </a:lnTo>
                <a:cubicBezTo>
                  <a:pt x="148749" y="147543"/>
                  <a:pt x="127140" y="167841"/>
                  <a:pt x="100705" y="167841"/>
                </a:cubicBezTo>
                <a:cubicBezTo>
                  <a:pt x="72906" y="167841"/>
                  <a:pt x="50352" y="145288"/>
                  <a:pt x="50352" y="117489"/>
                </a:cubicBezTo>
                <a:lnTo>
                  <a:pt x="50352" y="50352"/>
                </a:lnTo>
                <a:close/>
                <a:moveTo>
                  <a:pt x="12588" y="83921"/>
                </a:moveTo>
                <a:cubicBezTo>
                  <a:pt x="19564" y="83921"/>
                  <a:pt x="25176" y="89533"/>
                  <a:pt x="25176" y="96509"/>
                </a:cubicBezTo>
                <a:lnTo>
                  <a:pt x="25176" y="117489"/>
                </a:lnTo>
                <a:cubicBezTo>
                  <a:pt x="25176" y="159187"/>
                  <a:pt x="59007" y="193018"/>
                  <a:pt x="100705" y="193018"/>
                </a:cubicBezTo>
                <a:cubicBezTo>
                  <a:pt x="142403" y="193018"/>
                  <a:pt x="176233" y="159187"/>
                  <a:pt x="176233" y="117489"/>
                </a:cubicBezTo>
                <a:lnTo>
                  <a:pt x="176233" y="96509"/>
                </a:lnTo>
                <a:cubicBezTo>
                  <a:pt x="176233" y="89533"/>
                  <a:pt x="181846" y="83921"/>
                  <a:pt x="188822" y="83921"/>
                </a:cubicBezTo>
                <a:cubicBezTo>
                  <a:pt x="195797" y="83921"/>
                  <a:pt x="201410" y="89533"/>
                  <a:pt x="201410" y="96509"/>
                </a:cubicBezTo>
                <a:lnTo>
                  <a:pt x="201410" y="117489"/>
                </a:lnTo>
                <a:cubicBezTo>
                  <a:pt x="201410" y="168838"/>
                  <a:pt x="162964" y="211218"/>
                  <a:pt x="113293" y="217407"/>
                </a:cubicBezTo>
                <a:lnTo>
                  <a:pt x="113293" y="243370"/>
                </a:lnTo>
                <a:lnTo>
                  <a:pt x="138469" y="243370"/>
                </a:lnTo>
                <a:cubicBezTo>
                  <a:pt x="145445" y="243370"/>
                  <a:pt x="151057" y="248982"/>
                  <a:pt x="151057" y="255958"/>
                </a:cubicBezTo>
                <a:cubicBezTo>
                  <a:pt x="151057" y="262934"/>
                  <a:pt x="145445" y="268546"/>
                  <a:pt x="138469" y="268546"/>
                </a:cubicBezTo>
                <a:lnTo>
                  <a:pt x="62941" y="268546"/>
                </a:lnTo>
                <a:cubicBezTo>
                  <a:pt x="55965" y="268546"/>
                  <a:pt x="50352" y="262934"/>
                  <a:pt x="50352" y="255958"/>
                </a:cubicBezTo>
                <a:cubicBezTo>
                  <a:pt x="50352" y="248982"/>
                  <a:pt x="55965" y="243370"/>
                  <a:pt x="62941" y="243370"/>
                </a:cubicBezTo>
                <a:lnTo>
                  <a:pt x="88117" y="243370"/>
                </a:lnTo>
                <a:lnTo>
                  <a:pt x="88117" y="217407"/>
                </a:lnTo>
                <a:cubicBezTo>
                  <a:pt x="38446" y="211218"/>
                  <a:pt x="0" y="168838"/>
                  <a:pt x="0" y="117489"/>
                </a:cubicBezTo>
                <a:lnTo>
                  <a:pt x="0" y="96509"/>
                </a:lnTo>
                <a:cubicBezTo>
                  <a:pt x="0" y="89533"/>
                  <a:pt x="5612" y="83921"/>
                  <a:pt x="12588" y="83921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0480" y="3423633"/>
            <a:ext cx="181716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Marcus Rodriguez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73" y="3817500"/>
            <a:ext cx="768937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Podcast Host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73" y="4175562"/>
            <a:ext cx="7680423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90-minute weekly episodes. Knows there are viral moments buried inside, but can't find them without listening to entire recordings.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73" y="4712655"/>
            <a:ext cx="768042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 5-10 clips per episode for social media promotion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5302" y="5191479"/>
            <a:ext cx="7805081" cy="1745551"/>
          </a:xfrm>
          <a:custGeom>
            <a:avLst/>
            <a:gdLst/>
            <a:ahLst/>
            <a:cxnLst/>
            <a:rect l="l" t="t" r="r" b="b"/>
            <a:pathLst>
              <a:path w="7805081" h="1745551">
                <a:moveTo>
                  <a:pt x="0" y="0"/>
                </a:moveTo>
                <a:lnTo>
                  <a:pt x="7805081" y="0"/>
                </a:lnTo>
                <a:lnTo>
                  <a:pt x="7805081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5302" y="5191479"/>
            <a:ext cx="34480" cy="1745551"/>
          </a:xfrm>
          <a:custGeom>
            <a:avLst/>
            <a:gdLst/>
            <a:ahLst/>
            <a:cxnLst/>
            <a:rect l="l" t="t" r="r" b="b"/>
            <a:pathLst>
              <a:path w="34480" h="1745551">
                <a:moveTo>
                  <a:pt x="0" y="0"/>
                </a:moveTo>
                <a:lnTo>
                  <a:pt x="34480" y="0"/>
                </a:lnTo>
                <a:lnTo>
                  <a:pt x="34480" y="1745551"/>
                </a:lnTo>
                <a:lnTo>
                  <a:pt x="0" y="17455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3810" y="5321154"/>
            <a:ext cx="335683" cy="268546"/>
          </a:xfrm>
          <a:custGeom>
            <a:avLst/>
            <a:gdLst/>
            <a:ahLst/>
            <a:cxnLst/>
            <a:rect l="l" t="t" r="r" b="b"/>
            <a:pathLst>
              <a:path w="335683" h="268546">
                <a:moveTo>
                  <a:pt x="167841" y="8392"/>
                </a:moveTo>
                <a:cubicBezTo>
                  <a:pt x="197948" y="8392"/>
                  <a:pt x="222390" y="32834"/>
                  <a:pt x="222390" y="62941"/>
                </a:cubicBezTo>
                <a:cubicBezTo>
                  <a:pt x="222390" y="93047"/>
                  <a:pt x="197948" y="117489"/>
                  <a:pt x="167841" y="117489"/>
                </a:cubicBezTo>
                <a:cubicBezTo>
                  <a:pt x="137735" y="117489"/>
                  <a:pt x="113293" y="93047"/>
                  <a:pt x="113293" y="62941"/>
                </a:cubicBezTo>
                <a:cubicBezTo>
                  <a:pt x="113293" y="32834"/>
                  <a:pt x="137735" y="8392"/>
                  <a:pt x="167841" y="8392"/>
                </a:cubicBezTo>
                <a:close/>
                <a:moveTo>
                  <a:pt x="50352" y="46156"/>
                </a:moveTo>
                <a:cubicBezTo>
                  <a:pt x="71195" y="46156"/>
                  <a:pt x="88117" y="63078"/>
                  <a:pt x="88117" y="83921"/>
                </a:cubicBezTo>
                <a:cubicBezTo>
                  <a:pt x="88117" y="104763"/>
                  <a:pt x="71195" y="121685"/>
                  <a:pt x="50352" y="121685"/>
                </a:cubicBezTo>
                <a:cubicBezTo>
                  <a:pt x="29510" y="121685"/>
                  <a:pt x="12588" y="104763"/>
                  <a:pt x="12588" y="83921"/>
                </a:cubicBezTo>
                <a:cubicBezTo>
                  <a:pt x="12588" y="63078"/>
                  <a:pt x="29510" y="46156"/>
                  <a:pt x="50352" y="46156"/>
                </a:cubicBezTo>
                <a:close/>
                <a:moveTo>
                  <a:pt x="0" y="218194"/>
                </a:moveTo>
                <a:cubicBezTo>
                  <a:pt x="0" y="181111"/>
                  <a:pt x="30054" y="151057"/>
                  <a:pt x="67137" y="151057"/>
                </a:cubicBezTo>
                <a:cubicBezTo>
                  <a:pt x="73850" y="151057"/>
                  <a:pt x="80354" y="152054"/>
                  <a:pt x="86491" y="153890"/>
                </a:cubicBezTo>
                <a:cubicBezTo>
                  <a:pt x="69235" y="173191"/>
                  <a:pt x="58744" y="198682"/>
                  <a:pt x="58744" y="226586"/>
                </a:cubicBezTo>
                <a:lnTo>
                  <a:pt x="58744" y="234978"/>
                </a:lnTo>
                <a:cubicBezTo>
                  <a:pt x="58744" y="240957"/>
                  <a:pt x="60003" y="246622"/>
                  <a:pt x="62259" y="251762"/>
                </a:cubicBezTo>
                <a:lnTo>
                  <a:pt x="16784" y="251762"/>
                </a:lnTo>
                <a:cubicBezTo>
                  <a:pt x="7500" y="251762"/>
                  <a:pt x="0" y="244262"/>
                  <a:pt x="0" y="234978"/>
                </a:cubicBezTo>
                <a:lnTo>
                  <a:pt x="0" y="218194"/>
                </a:lnTo>
                <a:close/>
                <a:moveTo>
                  <a:pt x="273424" y="251762"/>
                </a:moveTo>
                <a:cubicBezTo>
                  <a:pt x="275680" y="246622"/>
                  <a:pt x="276938" y="240957"/>
                  <a:pt x="276938" y="234978"/>
                </a:cubicBezTo>
                <a:lnTo>
                  <a:pt x="276938" y="226586"/>
                </a:lnTo>
                <a:cubicBezTo>
                  <a:pt x="276938" y="198682"/>
                  <a:pt x="266448" y="173191"/>
                  <a:pt x="249192" y="153890"/>
                </a:cubicBezTo>
                <a:cubicBezTo>
                  <a:pt x="255329" y="152054"/>
                  <a:pt x="261833" y="151057"/>
                  <a:pt x="268546" y="151057"/>
                </a:cubicBezTo>
                <a:cubicBezTo>
                  <a:pt x="305629" y="151057"/>
                  <a:pt x="335683" y="181111"/>
                  <a:pt x="335683" y="218194"/>
                </a:cubicBezTo>
                <a:lnTo>
                  <a:pt x="335683" y="234978"/>
                </a:lnTo>
                <a:cubicBezTo>
                  <a:pt x="335683" y="244262"/>
                  <a:pt x="328182" y="251762"/>
                  <a:pt x="318899" y="251762"/>
                </a:cubicBezTo>
                <a:lnTo>
                  <a:pt x="273424" y="251762"/>
                </a:lnTo>
                <a:close/>
                <a:moveTo>
                  <a:pt x="247566" y="83921"/>
                </a:moveTo>
                <a:cubicBezTo>
                  <a:pt x="247566" y="63078"/>
                  <a:pt x="264488" y="46156"/>
                  <a:pt x="285330" y="46156"/>
                </a:cubicBezTo>
                <a:cubicBezTo>
                  <a:pt x="306173" y="46156"/>
                  <a:pt x="323095" y="63078"/>
                  <a:pt x="323095" y="83921"/>
                </a:cubicBezTo>
                <a:cubicBezTo>
                  <a:pt x="323095" y="104763"/>
                  <a:pt x="306173" y="121685"/>
                  <a:pt x="285330" y="121685"/>
                </a:cubicBezTo>
                <a:cubicBezTo>
                  <a:pt x="264488" y="121685"/>
                  <a:pt x="247566" y="104763"/>
                  <a:pt x="247566" y="83921"/>
                </a:cubicBezTo>
                <a:close/>
                <a:moveTo>
                  <a:pt x="83921" y="226586"/>
                </a:moveTo>
                <a:cubicBezTo>
                  <a:pt x="83921" y="180220"/>
                  <a:pt x="121475" y="142665"/>
                  <a:pt x="167841" y="142665"/>
                </a:cubicBezTo>
                <a:cubicBezTo>
                  <a:pt x="214208" y="142665"/>
                  <a:pt x="251762" y="180220"/>
                  <a:pt x="251762" y="226586"/>
                </a:cubicBezTo>
                <a:lnTo>
                  <a:pt x="251762" y="234978"/>
                </a:lnTo>
                <a:cubicBezTo>
                  <a:pt x="251762" y="244262"/>
                  <a:pt x="244262" y="251762"/>
                  <a:pt x="234978" y="251762"/>
                </a:cubicBezTo>
                <a:lnTo>
                  <a:pt x="100705" y="251762"/>
                </a:lnTo>
                <a:cubicBezTo>
                  <a:pt x="91421" y="251762"/>
                  <a:pt x="83921" y="244262"/>
                  <a:pt x="83921" y="234978"/>
                </a:cubicBezTo>
                <a:lnTo>
                  <a:pt x="83921" y="22658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0480" y="5312202"/>
            <a:ext cx="135168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Jennifer Park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73" y="5706070"/>
            <a:ext cx="768937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Workshop Facilitator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73" y="6064132"/>
            <a:ext cx="7680423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4-hour professional development sessions. Wants to share key insights online, but manual editing is prohibitively time-consuming.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73" y="6601224"/>
            <a:ext cx="7680423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pPr>
              <a:lnSpc>
                <a:spcPct val="13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Horizontal to vertical conversion loses speaker context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02514" y="1422301"/>
            <a:ext cx="3417500" cy="5503209"/>
          </a:xfrm>
          <a:custGeom>
            <a:avLst/>
            <a:gdLst/>
            <a:ahLst/>
            <a:cxnLst/>
            <a:rect l="l" t="t" r="r" b="b"/>
            <a:pathLst>
              <a:path w="3417500" h="5503209">
                <a:moveTo>
                  <a:pt x="71597" y="0"/>
                </a:moveTo>
                <a:lnTo>
                  <a:pt x="3345903" y="0"/>
                </a:lnTo>
                <a:cubicBezTo>
                  <a:pt x="3385445" y="0"/>
                  <a:pt x="3417500" y="32055"/>
                  <a:pt x="3417500" y="71597"/>
                </a:cubicBezTo>
                <a:lnTo>
                  <a:pt x="3417500" y="5431612"/>
                </a:lnTo>
                <a:cubicBezTo>
                  <a:pt x="3417500" y="5471154"/>
                  <a:pt x="3385445" y="5503209"/>
                  <a:pt x="3345903" y="5503209"/>
                </a:cubicBezTo>
                <a:lnTo>
                  <a:pt x="71597" y="5503209"/>
                </a:lnTo>
                <a:cubicBezTo>
                  <a:pt x="32055" y="5503209"/>
                  <a:pt x="0" y="5471154"/>
                  <a:pt x="0" y="5431612"/>
                </a:cubicBezTo>
                <a:lnTo>
                  <a:pt x="0" y="71597"/>
                </a:lnTo>
                <a:cubicBezTo>
                  <a:pt x="0" y="32081"/>
                  <a:pt x="32081" y="0"/>
                  <a:pt x="71597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5792" y="1609289"/>
            <a:ext cx="315094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Manual Editing Nightmare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89502" y="2131669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745822" y="2203281"/>
            <a:ext cx="116370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4982" y="2131669"/>
            <a:ext cx="2309498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Scrub Through Footage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4982" y="2418118"/>
            <a:ext cx="230054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hours finding potential moments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89502" y="2890021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732064" y="2961634"/>
            <a:ext cx="14322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4982" y="2890021"/>
            <a:ext cx="1897727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Highlights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4982" y="3176471"/>
            <a:ext cx="188877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30-45 minutes selecting clips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89502" y="3648374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730198" y="3719986"/>
            <a:ext cx="15217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54982" y="3648374"/>
            <a:ext cx="156652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Transcribe &amp; Caption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54982" y="3934823"/>
            <a:ext cx="155756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hours manual timing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89502" y="4406729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732146" y="4478341"/>
            <a:ext cx="14322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54982" y="4406729"/>
            <a:ext cx="2067806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to Vertical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54982" y="4693178"/>
            <a:ext cx="2058855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30-60 minutes speaker tracking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89502" y="5165081"/>
            <a:ext cx="358062" cy="358062"/>
          </a:xfrm>
          <a:custGeom>
            <a:avLst/>
            <a:gdLst/>
            <a:ahLst/>
            <a:cxnLst/>
            <a:rect l="l" t="t" r="r" b="b"/>
            <a:pathLst>
              <a:path w="358062" h="358062">
                <a:moveTo>
                  <a:pt x="179031" y="0"/>
                </a:moveTo>
                <a:lnTo>
                  <a:pt x="179031" y="0"/>
                </a:lnTo>
                <a:cubicBezTo>
                  <a:pt x="277907" y="0"/>
                  <a:pt x="358062" y="80155"/>
                  <a:pt x="358062" y="179031"/>
                </a:cubicBezTo>
                <a:lnTo>
                  <a:pt x="358062" y="179031"/>
                </a:lnTo>
                <a:cubicBezTo>
                  <a:pt x="358062" y="277907"/>
                  <a:pt x="277907" y="358062"/>
                  <a:pt x="179031" y="358062"/>
                </a:cubicBezTo>
                <a:lnTo>
                  <a:pt x="179031" y="358062"/>
                </a:lnTo>
                <a:cubicBezTo>
                  <a:pt x="80155" y="358062"/>
                  <a:pt x="0" y="277907"/>
                  <a:pt x="0" y="179031"/>
                </a:cubicBezTo>
                <a:lnTo>
                  <a:pt x="0" y="179031"/>
                </a:lnTo>
                <a:cubicBezTo>
                  <a:pt x="0" y="80155"/>
                  <a:pt x="80155" y="0"/>
                  <a:pt x="1790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729991" y="5236694"/>
            <a:ext cx="15217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54982" y="5165081"/>
            <a:ext cx="170079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&amp; Upload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4982" y="5451533"/>
            <a:ext cx="169184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30-45 minutes processing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89502" y="5874617"/>
            <a:ext cx="3043524" cy="867305"/>
          </a:xfrm>
          <a:custGeom>
            <a:avLst/>
            <a:gdLst/>
            <a:ahLst/>
            <a:cxnLst/>
            <a:rect l="l" t="t" r="r" b="b"/>
            <a:pathLst>
              <a:path w="3043524" h="867305">
                <a:moveTo>
                  <a:pt x="15914" y="0"/>
                </a:moveTo>
                <a:lnTo>
                  <a:pt x="3027610" y="0"/>
                </a:lnTo>
                <a:cubicBezTo>
                  <a:pt x="3036399" y="0"/>
                  <a:pt x="3043524" y="7125"/>
                  <a:pt x="3043524" y="15914"/>
                </a:cubicBezTo>
                <a:lnTo>
                  <a:pt x="3043524" y="795692"/>
                </a:lnTo>
                <a:cubicBezTo>
                  <a:pt x="3043524" y="835243"/>
                  <a:pt x="3011462" y="867305"/>
                  <a:pt x="2971911" y="867305"/>
                </a:cubicBezTo>
                <a:lnTo>
                  <a:pt x="71613" y="867305"/>
                </a:lnTo>
                <a:cubicBezTo>
                  <a:pt x="32062" y="867305"/>
                  <a:pt x="0" y="835243"/>
                  <a:pt x="0" y="795692"/>
                </a:cubicBezTo>
                <a:lnTo>
                  <a:pt x="0" y="15914"/>
                </a:lnTo>
                <a:cubicBezTo>
                  <a:pt x="0" y="7131"/>
                  <a:pt x="7131" y="0"/>
                  <a:pt x="1591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589502" y="5874617"/>
            <a:ext cx="3043524" cy="15914"/>
          </a:xfrm>
          <a:custGeom>
            <a:avLst/>
            <a:gdLst/>
            <a:ahLst/>
            <a:cxnLst/>
            <a:rect l="l" t="t" r="r" b="b"/>
            <a:pathLst>
              <a:path w="3043524" h="15914">
                <a:moveTo>
                  <a:pt x="15914" y="0"/>
                </a:moveTo>
                <a:lnTo>
                  <a:pt x="3027610" y="0"/>
                </a:lnTo>
                <a:cubicBezTo>
                  <a:pt x="3036399" y="0"/>
                  <a:pt x="3043524" y="7125"/>
                  <a:pt x="3043524" y="15914"/>
                </a:cubicBezTo>
                <a:lnTo>
                  <a:pt x="3043524" y="15914"/>
                </a:lnTo>
                <a:lnTo>
                  <a:pt x="0" y="15914"/>
                </a:lnTo>
                <a:lnTo>
                  <a:pt x="0" y="15914"/>
                </a:lnTo>
                <a:cubicBezTo>
                  <a:pt x="0" y="7131"/>
                  <a:pt x="7131" y="0"/>
                  <a:pt x="1591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8522365" y="6025795"/>
            <a:ext cx="3177797" cy="32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Hours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49220" y="6383857"/>
            <a:ext cx="3124088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60-minute video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92" y="341992"/>
            <a:ext cx="11576415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spc="21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992" y="615585"/>
            <a:ext cx="11713212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Intelligent Moment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992" y="1128572"/>
            <a:ext cx="1094373" cy="17100"/>
          </a:xfrm>
          <a:custGeom>
            <a:avLst/>
            <a:gdLst/>
            <a:ahLst/>
            <a:cxnLst/>
            <a:rect l="l" t="t" r="r" b="b"/>
            <a:pathLst>
              <a:path w="1094373" h="17100">
                <a:moveTo>
                  <a:pt x="0" y="0"/>
                </a:moveTo>
                <a:lnTo>
                  <a:pt x="1094373" y="0"/>
                </a:lnTo>
                <a:lnTo>
                  <a:pt x="1094373" y="17100"/>
                </a:lnTo>
                <a:lnTo>
                  <a:pt x="0" y="17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58458" y="1350867"/>
            <a:ext cx="11490284" cy="829330"/>
          </a:xfrm>
          <a:custGeom>
            <a:avLst/>
            <a:gdLst/>
            <a:ahLst/>
            <a:cxnLst/>
            <a:rect l="l" t="t" r="r" b="b"/>
            <a:pathLst>
              <a:path w="11490284" h="829330">
                <a:moveTo>
                  <a:pt x="0" y="0"/>
                </a:moveTo>
                <a:lnTo>
                  <a:pt x="11490284" y="0"/>
                </a:lnTo>
                <a:lnTo>
                  <a:pt x="11490284" y="829330"/>
                </a:lnTo>
                <a:lnTo>
                  <a:pt x="0" y="82933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8458" y="1350867"/>
            <a:ext cx="32933" cy="829330"/>
          </a:xfrm>
          <a:custGeom>
            <a:avLst/>
            <a:gdLst/>
            <a:ahLst/>
            <a:cxnLst/>
            <a:rect l="l" t="t" r="r" b="b"/>
            <a:pathLst>
              <a:path w="32933" h="829330">
                <a:moveTo>
                  <a:pt x="0" y="0"/>
                </a:moveTo>
                <a:lnTo>
                  <a:pt x="32933" y="0"/>
                </a:lnTo>
                <a:lnTo>
                  <a:pt x="32933" y="829330"/>
                </a:lnTo>
                <a:lnTo>
                  <a:pt x="0" y="82933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580119" y="1487663"/>
            <a:ext cx="11354121" cy="55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multimodal AI to automatically detect emotional peaks and viral moments by analyzing 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energy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expressions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sentiment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real-time.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591" y="2392991"/>
            <a:ext cx="3683059" cy="3024726"/>
          </a:xfrm>
          <a:custGeom>
            <a:avLst/>
            <a:gdLst/>
            <a:ahLst/>
            <a:cxnLst/>
            <a:rect l="l" t="t" r="r" b="b"/>
            <a:pathLst>
              <a:path w="3683059" h="3024726">
                <a:moveTo>
                  <a:pt x="68389" y="0"/>
                </a:moveTo>
                <a:lnTo>
                  <a:pt x="3614670" y="0"/>
                </a:lnTo>
                <a:cubicBezTo>
                  <a:pt x="3652441" y="0"/>
                  <a:pt x="3683059" y="30619"/>
                  <a:pt x="3683059" y="68389"/>
                </a:cubicBezTo>
                <a:lnTo>
                  <a:pt x="3683059" y="2956337"/>
                </a:lnTo>
                <a:cubicBezTo>
                  <a:pt x="3683059" y="2994107"/>
                  <a:pt x="3652441" y="3024726"/>
                  <a:pt x="3614670" y="3024726"/>
                </a:cubicBezTo>
                <a:lnTo>
                  <a:pt x="68389" y="3024726"/>
                </a:lnTo>
                <a:cubicBezTo>
                  <a:pt x="30619" y="3024726"/>
                  <a:pt x="0" y="2994107"/>
                  <a:pt x="0" y="2956337"/>
                </a:cubicBezTo>
                <a:lnTo>
                  <a:pt x="0" y="68389"/>
                </a:lnTo>
                <a:cubicBezTo>
                  <a:pt x="0" y="30644"/>
                  <a:pt x="30644" y="0"/>
                  <a:pt x="68389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86" y="2605786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3533" y="2742583"/>
            <a:ext cx="256494" cy="205195"/>
          </a:xfrm>
          <a:custGeom>
            <a:avLst/>
            <a:gdLst/>
            <a:ahLst/>
            <a:cxnLst/>
            <a:rect l="l" t="t" r="r" b="b"/>
            <a:pathLst>
              <a:path w="256494" h="205195">
                <a:moveTo>
                  <a:pt x="213852" y="13025"/>
                </a:moveTo>
                <a:cubicBezTo>
                  <a:pt x="209724" y="9659"/>
                  <a:pt x="203672" y="10300"/>
                  <a:pt x="200306" y="14428"/>
                </a:cubicBezTo>
                <a:cubicBezTo>
                  <a:pt x="196939" y="18556"/>
                  <a:pt x="197580" y="24607"/>
                  <a:pt x="201708" y="27974"/>
                </a:cubicBezTo>
                <a:cubicBezTo>
                  <a:pt x="223430" y="45608"/>
                  <a:pt x="237257" y="72459"/>
                  <a:pt x="237257" y="102597"/>
                </a:cubicBezTo>
                <a:cubicBezTo>
                  <a:pt x="237257" y="132735"/>
                  <a:pt x="223430" y="159587"/>
                  <a:pt x="201708" y="177261"/>
                </a:cubicBezTo>
                <a:cubicBezTo>
                  <a:pt x="197580" y="180628"/>
                  <a:pt x="196979" y="186679"/>
                  <a:pt x="200306" y="190807"/>
                </a:cubicBezTo>
                <a:cubicBezTo>
                  <a:pt x="203632" y="194935"/>
                  <a:pt x="209724" y="195536"/>
                  <a:pt x="213852" y="192210"/>
                </a:cubicBezTo>
                <a:cubicBezTo>
                  <a:pt x="239862" y="171009"/>
                  <a:pt x="256494" y="138747"/>
                  <a:pt x="256494" y="102597"/>
                </a:cubicBezTo>
                <a:cubicBezTo>
                  <a:pt x="256494" y="66448"/>
                  <a:pt x="239862" y="34146"/>
                  <a:pt x="213852" y="13025"/>
                </a:cubicBezTo>
                <a:close/>
                <a:moveTo>
                  <a:pt x="189605" y="42883"/>
                </a:moveTo>
                <a:cubicBezTo>
                  <a:pt x="185477" y="39516"/>
                  <a:pt x="179425" y="40157"/>
                  <a:pt x="176059" y="44285"/>
                </a:cubicBezTo>
                <a:cubicBezTo>
                  <a:pt x="172692" y="48413"/>
                  <a:pt x="173334" y="54465"/>
                  <a:pt x="177462" y="57831"/>
                </a:cubicBezTo>
                <a:cubicBezTo>
                  <a:pt x="190487" y="68412"/>
                  <a:pt x="198783" y="84523"/>
                  <a:pt x="198783" y="102597"/>
                </a:cubicBezTo>
                <a:cubicBezTo>
                  <a:pt x="198783" y="120672"/>
                  <a:pt x="190487" y="136783"/>
                  <a:pt x="177462" y="147404"/>
                </a:cubicBezTo>
                <a:cubicBezTo>
                  <a:pt x="173334" y="150770"/>
                  <a:pt x="172732" y="156822"/>
                  <a:pt x="176059" y="160950"/>
                </a:cubicBezTo>
                <a:cubicBezTo>
                  <a:pt x="179385" y="165078"/>
                  <a:pt x="185477" y="165679"/>
                  <a:pt x="189605" y="162352"/>
                </a:cubicBezTo>
                <a:cubicBezTo>
                  <a:pt x="206918" y="148245"/>
                  <a:pt x="218020" y="126724"/>
                  <a:pt x="218020" y="102638"/>
                </a:cubicBezTo>
                <a:cubicBezTo>
                  <a:pt x="218020" y="78551"/>
                  <a:pt x="206918" y="57030"/>
                  <a:pt x="189605" y="42923"/>
                </a:cubicBezTo>
                <a:close/>
                <a:moveTo>
                  <a:pt x="165358" y="72740"/>
                </a:moveTo>
                <a:cubicBezTo>
                  <a:pt x="161230" y="69374"/>
                  <a:pt x="155179" y="70015"/>
                  <a:pt x="151812" y="74143"/>
                </a:cubicBezTo>
                <a:cubicBezTo>
                  <a:pt x="148446" y="78271"/>
                  <a:pt x="149087" y="84322"/>
                  <a:pt x="153215" y="87689"/>
                </a:cubicBezTo>
                <a:cubicBezTo>
                  <a:pt x="157543" y="91216"/>
                  <a:pt x="160309" y="96586"/>
                  <a:pt x="160309" y="102597"/>
                </a:cubicBezTo>
                <a:cubicBezTo>
                  <a:pt x="160309" y="108609"/>
                  <a:pt x="157543" y="113979"/>
                  <a:pt x="153215" y="117546"/>
                </a:cubicBezTo>
                <a:cubicBezTo>
                  <a:pt x="149087" y="120913"/>
                  <a:pt x="148486" y="126964"/>
                  <a:pt x="151812" y="131092"/>
                </a:cubicBezTo>
                <a:cubicBezTo>
                  <a:pt x="155139" y="135220"/>
                  <a:pt x="161230" y="135821"/>
                  <a:pt x="165358" y="132495"/>
                </a:cubicBezTo>
                <a:cubicBezTo>
                  <a:pt x="173975" y="125401"/>
                  <a:pt x="179546" y="114661"/>
                  <a:pt x="179546" y="102597"/>
                </a:cubicBezTo>
                <a:cubicBezTo>
                  <a:pt x="179546" y="90534"/>
                  <a:pt x="173975" y="79794"/>
                  <a:pt x="165358" y="72740"/>
                </a:cubicBezTo>
                <a:close/>
                <a:moveTo>
                  <a:pt x="32062" y="141072"/>
                </a:moveTo>
                <a:lnTo>
                  <a:pt x="51299" y="141072"/>
                </a:lnTo>
                <a:lnTo>
                  <a:pt x="105042" y="188843"/>
                </a:lnTo>
                <a:cubicBezTo>
                  <a:pt x="107607" y="191128"/>
                  <a:pt x="110893" y="192370"/>
                  <a:pt x="114300" y="192370"/>
                </a:cubicBezTo>
                <a:cubicBezTo>
                  <a:pt x="121995" y="192370"/>
                  <a:pt x="128247" y="186118"/>
                  <a:pt x="128247" y="178423"/>
                </a:cubicBezTo>
                <a:lnTo>
                  <a:pt x="128247" y="26772"/>
                </a:lnTo>
                <a:cubicBezTo>
                  <a:pt x="128247" y="19077"/>
                  <a:pt x="121995" y="12825"/>
                  <a:pt x="114300" y="12825"/>
                </a:cubicBezTo>
                <a:cubicBezTo>
                  <a:pt x="110893" y="12825"/>
                  <a:pt x="107607" y="14067"/>
                  <a:pt x="105042" y="16351"/>
                </a:cubicBezTo>
                <a:lnTo>
                  <a:pt x="51299" y="64123"/>
                </a:lnTo>
                <a:lnTo>
                  <a:pt x="32062" y="64123"/>
                </a:lnTo>
                <a:cubicBezTo>
                  <a:pt x="21441" y="64123"/>
                  <a:pt x="12825" y="72740"/>
                  <a:pt x="12825" y="83360"/>
                </a:cubicBezTo>
                <a:lnTo>
                  <a:pt x="12825" y="121835"/>
                </a:lnTo>
                <a:cubicBezTo>
                  <a:pt x="12825" y="132455"/>
                  <a:pt x="21441" y="141072"/>
                  <a:pt x="32062" y="1410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1143772" y="2708384"/>
            <a:ext cx="143636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5211" y="3289770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774271" y="3255570"/>
            <a:ext cx="3112123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Spike Detection: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volume &amp; intensity changes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5211" y="3802757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73598" y="3768558"/>
            <a:ext cx="3112123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Variation: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excitement, emphasis, emotional tone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8036" y="4315744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798455" y="4281545"/>
            <a:ext cx="308647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Pause Analysis: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Dramatic silences &amp; speech patterns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8036" y="4828732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799405" y="4794532"/>
            <a:ext cx="308647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Rate: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Changes indicating passion or urgency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3362" y="2392991"/>
            <a:ext cx="3683059" cy="3024726"/>
          </a:xfrm>
          <a:custGeom>
            <a:avLst/>
            <a:gdLst/>
            <a:ahLst/>
            <a:cxnLst/>
            <a:rect l="l" t="t" r="r" b="b"/>
            <a:pathLst>
              <a:path w="3683059" h="3024726">
                <a:moveTo>
                  <a:pt x="68389" y="0"/>
                </a:moveTo>
                <a:lnTo>
                  <a:pt x="3614670" y="0"/>
                </a:lnTo>
                <a:cubicBezTo>
                  <a:pt x="3652441" y="0"/>
                  <a:pt x="3683059" y="30619"/>
                  <a:pt x="3683059" y="68389"/>
                </a:cubicBezTo>
                <a:lnTo>
                  <a:pt x="3683059" y="2956337"/>
                </a:lnTo>
                <a:cubicBezTo>
                  <a:pt x="3683059" y="2994107"/>
                  <a:pt x="3652441" y="3024726"/>
                  <a:pt x="3614670" y="3024726"/>
                </a:cubicBezTo>
                <a:lnTo>
                  <a:pt x="68389" y="3024726"/>
                </a:lnTo>
                <a:cubicBezTo>
                  <a:pt x="30619" y="3024726"/>
                  <a:pt x="0" y="2994107"/>
                  <a:pt x="0" y="2956337"/>
                </a:cubicBezTo>
                <a:lnTo>
                  <a:pt x="0" y="68389"/>
                </a:lnTo>
                <a:cubicBezTo>
                  <a:pt x="0" y="30644"/>
                  <a:pt x="30644" y="0"/>
                  <a:pt x="68389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6157" y="2605786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90129" y="2742583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>
                <a:moveTo>
                  <a:pt x="115422" y="12825"/>
                </a:moveTo>
                <a:cubicBezTo>
                  <a:pt x="83040" y="12825"/>
                  <a:pt x="57110" y="27573"/>
                  <a:pt x="38234" y="45127"/>
                </a:cubicBezTo>
                <a:cubicBezTo>
                  <a:pt x="19477" y="62560"/>
                  <a:pt x="6933" y="83360"/>
                  <a:pt x="962" y="97668"/>
                </a:cubicBezTo>
                <a:cubicBezTo>
                  <a:pt x="-361" y="100834"/>
                  <a:pt x="-361" y="104361"/>
                  <a:pt x="962" y="107527"/>
                </a:cubicBezTo>
                <a:cubicBezTo>
                  <a:pt x="6933" y="121835"/>
                  <a:pt x="19477" y="142675"/>
                  <a:pt x="38234" y="160068"/>
                </a:cubicBezTo>
                <a:cubicBezTo>
                  <a:pt x="57110" y="177582"/>
                  <a:pt x="83040" y="192370"/>
                  <a:pt x="115422" y="192370"/>
                </a:cubicBezTo>
                <a:cubicBezTo>
                  <a:pt x="147804" y="192370"/>
                  <a:pt x="173734" y="177622"/>
                  <a:pt x="192611" y="160068"/>
                </a:cubicBezTo>
                <a:cubicBezTo>
                  <a:pt x="211367" y="142635"/>
                  <a:pt x="223911" y="121835"/>
                  <a:pt x="229882" y="107527"/>
                </a:cubicBezTo>
                <a:cubicBezTo>
                  <a:pt x="231205" y="104361"/>
                  <a:pt x="231205" y="100834"/>
                  <a:pt x="229882" y="97668"/>
                </a:cubicBezTo>
                <a:cubicBezTo>
                  <a:pt x="223911" y="83360"/>
                  <a:pt x="211367" y="62520"/>
                  <a:pt x="192611" y="45127"/>
                </a:cubicBezTo>
                <a:cubicBezTo>
                  <a:pt x="173734" y="27613"/>
                  <a:pt x="147804" y="12825"/>
                  <a:pt x="115422" y="12825"/>
                </a:cubicBezTo>
                <a:close/>
                <a:moveTo>
                  <a:pt x="57711" y="102597"/>
                </a:moveTo>
                <a:cubicBezTo>
                  <a:pt x="57711" y="70746"/>
                  <a:pt x="83571" y="44886"/>
                  <a:pt x="115422" y="44886"/>
                </a:cubicBezTo>
                <a:cubicBezTo>
                  <a:pt x="147274" y="44886"/>
                  <a:pt x="173133" y="70746"/>
                  <a:pt x="173133" y="102597"/>
                </a:cubicBezTo>
                <a:cubicBezTo>
                  <a:pt x="173133" y="134449"/>
                  <a:pt x="147274" y="160309"/>
                  <a:pt x="115422" y="160309"/>
                </a:cubicBezTo>
                <a:cubicBezTo>
                  <a:pt x="83571" y="160309"/>
                  <a:pt x="57711" y="134449"/>
                  <a:pt x="57711" y="102597"/>
                </a:cubicBezTo>
                <a:close/>
                <a:moveTo>
                  <a:pt x="115422" y="76948"/>
                </a:moveTo>
                <a:cubicBezTo>
                  <a:pt x="115422" y="91095"/>
                  <a:pt x="103920" y="102597"/>
                  <a:pt x="89773" y="102597"/>
                </a:cubicBezTo>
                <a:cubicBezTo>
                  <a:pt x="85164" y="102597"/>
                  <a:pt x="80836" y="101395"/>
                  <a:pt x="77068" y="99231"/>
                </a:cubicBezTo>
                <a:cubicBezTo>
                  <a:pt x="76668" y="103599"/>
                  <a:pt x="77028" y="108088"/>
                  <a:pt x="78231" y="112537"/>
                </a:cubicBezTo>
                <a:cubicBezTo>
                  <a:pt x="83721" y="133056"/>
                  <a:pt x="104842" y="145240"/>
                  <a:pt x="125361" y="139749"/>
                </a:cubicBezTo>
                <a:cubicBezTo>
                  <a:pt x="145881" y="134258"/>
                  <a:pt x="158064" y="113138"/>
                  <a:pt x="152574" y="92618"/>
                </a:cubicBezTo>
                <a:cubicBezTo>
                  <a:pt x="147684" y="74303"/>
                  <a:pt x="130331" y="62641"/>
                  <a:pt x="112056" y="64244"/>
                </a:cubicBezTo>
                <a:cubicBezTo>
                  <a:pt x="114180" y="67971"/>
                  <a:pt x="115422" y="72299"/>
                  <a:pt x="115422" y="7694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542" y="2708384"/>
            <a:ext cx="1453464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7531" y="3289770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4701236" y="3255570"/>
            <a:ext cx="30950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Facial Expressions: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smiles, surprise, intensity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91806" y="3802757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4705551" y="3768558"/>
            <a:ext cx="2941128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Units: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Micro-expressions using OpenFace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87531" y="4110549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4698228" y="4076350"/>
            <a:ext cx="30950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Eye Tracking: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Gaze direction &amp; engagement indicators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1806" y="4623537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4705551" y="4589338"/>
            <a:ext cx="2667534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 Language: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Gestures &amp; posture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57133" y="2392991"/>
            <a:ext cx="3683059" cy="3024726"/>
          </a:xfrm>
          <a:custGeom>
            <a:avLst/>
            <a:gdLst/>
            <a:ahLst/>
            <a:cxnLst/>
            <a:rect l="l" t="t" r="r" b="b"/>
            <a:pathLst>
              <a:path w="3683059" h="3024726">
                <a:moveTo>
                  <a:pt x="68389" y="0"/>
                </a:moveTo>
                <a:lnTo>
                  <a:pt x="3614670" y="0"/>
                </a:lnTo>
                <a:cubicBezTo>
                  <a:pt x="3652441" y="0"/>
                  <a:pt x="3683059" y="30619"/>
                  <a:pt x="3683059" y="68389"/>
                </a:cubicBezTo>
                <a:lnTo>
                  <a:pt x="3683059" y="2956337"/>
                </a:lnTo>
                <a:cubicBezTo>
                  <a:pt x="3683059" y="2994107"/>
                  <a:pt x="3652441" y="3024726"/>
                  <a:pt x="3614670" y="3024726"/>
                </a:cubicBezTo>
                <a:lnTo>
                  <a:pt x="68389" y="3024726"/>
                </a:lnTo>
                <a:cubicBezTo>
                  <a:pt x="30619" y="3024726"/>
                  <a:pt x="0" y="2994107"/>
                  <a:pt x="0" y="2956337"/>
                </a:cubicBezTo>
                <a:lnTo>
                  <a:pt x="0" y="68389"/>
                </a:lnTo>
                <a:cubicBezTo>
                  <a:pt x="0" y="30644"/>
                  <a:pt x="30644" y="0"/>
                  <a:pt x="68389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9927" y="2605786"/>
            <a:ext cx="478788" cy="478788"/>
          </a:xfrm>
          <a:custGeom>
            <a:avLst/>
            <a:gdLst/>
            <a:ahLst/>
            <a:cxnLst/>
            <a:rect l="l" t="t" r="r" b="b"/>
            <a:pathLst>
              <a:path w="478788" h="478788">
                <a:moveTo>
                  <a:pt x="239394" y="0"/>
                </a:moveTo>
                <a:lnTo>
                  <a:pt x="239394" y="0"/>
                </a:lnTo>
                <a:cubicBezTo>
                  <a:pt x="371608" y="0"/>
                  <a:pt x="478788" y="107180"/>
                  <a:pt x="478788" y="239394"/>
                </a:cubicBezTo>
                <a:lnTo>
                  <a:pt x="478788" y="239394"/>
                </a:lnTo>
                <a:cubicBezTo>
                  <a:pt x="478788" y="371608"/>
                  <a:pt x="371608" y="478788"/>
                  <a:pt x="239394" y="478788"/>
                </a:cubicBezTo>
                <a:lnTo>
                  <a:pt x="239394" y="478788"/>
                </a:lnTo>
                <a:cubicBezTo>
                  <a:pt x="107180" y="478788"/>
                  <a:pt x="0" y="371608"/>
                  <a:pt x="0" y="239394"/>
                </a:cubicBezTo>
                <a:lnTo>
                  <a:pt x="0" y="239394"/>
                </a:lnTo>
                <a:cubicBezTo>
                  <a:pt x="0" y="107180"/>
                  <a:pt x="107180" y="0"/>
                  <a:pt x="2393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493899" y="2742583"/>
            <a:ext cx="230844" cy="205195"/>
          </a:xfrm>
          <a:custGeom>
            <a:avLst/>
            <a:gdLst/>
            <a:ahLst/>
            <a:cxnLst/>
            <a:rect l="l" t="t" r="r" b="b"/>
            <a:pathLst>
              <a:path w="230844" h="205195">
                <a:moveTo>
                  <a:pt x="153896" y="57711"/>
                </a:moveTo>
                <a:cubicBezTo>
                  <a:pt x="153896" y="96666"/>
                  <a:pt x="119430" y="128247"/>
                  <a:pt x="76948" y="128247"/>
                </a:cubicBezTo>
                <a:cubicBezTo>
                  <a:pt x="66248" y="128247"/>
                  <a:pt x="56068" y="126243"/>
                  <a:pt x="46810" y="122636"/>
                </a:cubicBezTo>
                <a:lnTo>
                  <a:pt x="14107" y="139949"/>
                </a:lnTo>
                <a:cubicBezTo>
                  <a:pt x="10380" y="141913"/>
                  <a:pt x="5811" y="141232"/>
                  <a:pt x="2805" y="138266"/>
                </a:cubicBezTo>
                <a:cubicBezTo>
                  <a:pt x="-200" y="135300"/>
                  <a:pt x="-882" y="130692"/>
                  <a:pt x="1122" y="126964"/>
                </a:cubicBezTo>
                <a:lnTo>
                  <a:pt x="15390" y="100033"/>
                </a:lnTo>
                <a:cubicBezTo>
                  <a:pt x="5731" y="88250"/>
                  <a:pt x="0" y="73582"/>
                  <a:pt x="0" y="57711"/>
                </a:cubicBezTo>
                <a:cubicBezTo>
                  <a:pt x="0" y="18756"/>
                  <a:pt x="34466" y="-12825"/>
                  <a:pt x="76948" y="-12825"/>
                </a:cubicBezTo>
                <a:cubicBezTo>
                  <a:pt x="119430" y="-12825"/>
                  <a:pt x="153896" y="18756"/>
                  <a:pt x="153896" y="57711"/>
                </a:cubicBezTo>
                <a:close/>
                <a:moveTo>
                  <a:pt x="153896" y="205195"/>
                </a:moveTo>
                <a:cubicBezTo>
                  <a:pt x="116184" y="205195"/>
                  <a:pt x="84803" y="180307"/>
                  <a:pt x="78231" y="147484"/>
                </a:cubicBezTo>
                <a:cubicBezTo>
                  <a:pt x="126323" y="146883"/>
                  <a:pt x="168124" y="112657"/>
                  <a:pt x="172732" y="66248"/>
                </a:cubicBezTo>
                <a:cubicBezTo>
                  <a:pt x="206117" y="73942"/>
                  <a:pt x="230844" y="101636"/>
                  <a:pt x="230844" y="134659"/>
                </a:cubicBezTo>
                <a:cubicBezTo>
                  <a:pt x="230844" y="150530"/>
                  <a:pt x="225113" y="165198"/>
                  <a:pt x="215455" y="176981"/>
                </a:cubicBezTo>
                <a:lnTo>
                  <a:pt x="229722" y="203912"/>
                </a:lnTo>
                <a:cubicBezTo>
                  <a:pt x="231686" y="207640"/>
                  <a:pt x="231005" y="212208"/>
                  <a:pt x="228039" y="215214"/>
                </a:cubicBezTo>
                <a:cubicBezTo>
                  <a:pt x="225073" y="218220"/>
                  <a:pt x="220464" y="218901"/>
                  <a:pt x="216737" y="216897"/>
                </a:cubicBezTo>
                <a:lnTo>
                  <a:pt x="184034" y="199584"/>
                </a:lnTo>
                <a:cubicBezTo>
                  <a:pt x="174776" y="203191"/>
                  <a:pt x="164597" y="205195"/>
                  <a:pt x="153896" y="20519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8951313" y="2708384"/>
            <a:ext cx="130811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91302" y="3289770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8599663" y="3255570"/>
            <a:ext cx="30950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Positive, negative, neutral emotion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91302" y="3802757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8599307" y="3768558"/>
            <a:ext cx="30950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Triggers: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"Profound", "breakthrough", "secret"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91302" y="4315744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Text 39"/>
          <p:cNvSpPr/>
          <p:nvPr/>
        </p:nvSpPr>
        <p:spPr>
          <a:xfrm>
            <a:off x="8599307" y="4281545"/>
            <a:ext cx="3095024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Intensity: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Word choice &amp; emphasis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752" y="4828732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6170" y="18729"/>
                </a:moveTo>
                <a:cubicBezTo>
                  <a:pt x="119991" y="21508"/>
                  <a:pt x="120846" y="26852"/>
                  <a:pt x="118067" y="30672"/>
                </a:cubicBezTo>
                <a:lnTo>
                  <a:pt x="49669" y="124720"/>
                </a:lnTo>
                <a:cubicBezTo>
                  <a:pt x="48199" y="126751"/>
                  <a:pt x="45928" y="128006"/>
                  <a:pt x="43417" y="128220"/>
                </a:cubicBezTo>
                <a:cubicBezTo>
                  <a:pt x="40905" y="128434"/>
                  <a:pt x="38474" y="127499"/>
                  <a:pt x="36711" y="125735"/>
                </a:cubicBezTo>
                <a:lnTo>
                  <a:pt x="2512" y="91536"/>
                </a:lnTo>
                <a:cubicBezTo>
                  <a:pt x="-828" y="88196"/>
                  <a:pt x="-828" y="82773"/>
                  <a:pt x="2512" y="79433"/>
                </a:cubicBezTo>
                <a:cubicBezTo>
                  <a:pt x="5851" y="76093"/>
                  <a:pt x="11275" y="76093"/>
                  <a:pt x="14615" y="79433"/>
                </a:cubicBezTo>
                <a:lnTo>
                  <a:pt x="41734" y="106552"/>
                </a:lnTo>
                <a:lnTo>
                  <a:pt x="104254" y="20600"/>
                </a:lnTo>
                <a:cubicBezTo>
                  <a:pt x="107033" y="16779"/>
                  <a:pt x="112376" y="15924"/>
                  <a:pt x="116197" y="187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8587155" y="4794532"/>
            <a:ext cx="3112123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Detection: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Rhetorical questions that hook viewers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9591" y="5638112"/>
            <a:ext cx="11489017" cy="1212170"/>
          </a:xfrm>
          <a:custGeom>
            <a:avLst/>
            <a:gdLst/>
            <a:ahLst/>
            <a:cxnLst/>
            <a:rect l="l" t="t" r="r" b="b"/>
            <a:pathLst>
              <a:path w="11489017" h="1212170">
                <a:moveTo>
                  <a:pt x="68403" y="0"/>
                </a:moveTo>
                <a:lnTo>
                  <a:pt x="11420615" y="0"/>
                </a:lnTo>
                <a:cubicBezTo>
                  <a:pt x="11458392" y="0"/>
                  <a:pt x="11489017" y="30625"/>
                  <a:pt x="11489017" y="68403"/>
                </a:cubicBezTo>
                <a:lnTo>
                  <a:pt x="11489017" y="1143767"/>
                </a:lnTo>
                <a:cubicBezTo>
                  <a:pt x="11489017" y="1181545"/>
                  <a:pt x="11458392" y="1212170"/>
                  <a:pt x="11420615" y="1212170"/>
                </a:cubicBezTo>
                <a:lnTo>
                  <a:pt x="68403" y="1212170"/>
                </a:lnTo>
                <a:cubicBezTo>
                  <a:pt x="30625" y="1212170"/>
                  <a:pt x="0" y="1181545"/>
                  <a:pt x="0" y="1143767"/>
                </a:cubicBezTo>
                <a:lnTo>
                  <a:pt x="0" y="68403"/>
                </a:lnTo>
                <a:cubicBezTo>
                  <a:pt x="0" y="30650"/>
                  <a:pt x="30650" y="0"/>
                  <a:pt x="6840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2386" y="5970604"/>
            <a:ext cx="547187" cy="547187"/>
          </a:xfrm>
          <a:custGeom>
            <a:avLst/>
            <a:gdLst/>
            <a:ahLst/>
            <a:cxnLst/>
            <a:rect l="l" t="t" r="r" b="b"/>
            <a:pathLst>
              <a:path w="547187" h="547187">
                <a:moveTo>
                  <a:pt x="273593" y="0"/>
                </a:moveTo>
                <a:lnTo>
                  <a:pt x="273593" y="0"/>
                </a:lnTo>
                <a:cubicBezTo>
                  <a:pt x="424594" y="0"/>
                  <a:pt x="547187" y="122593"/>
                  <a:pt x="547187" y="273593"/>
                </a:cubicBezTo>
                <a:lnTo>
                  <a:pt x="547187" y="273593"/>
                </a:lnTo>
                <a:cubicBezTo>
                  <a:pt x="547187" y="424594"/>
                  <a:pt x="424594" y="547187"/>
                  <a:pt x="273593" y="547187"/>
                </a:cubicBezTo>
                <a:lnTo>
                  <a:pt x="273593" y="547187"/>
                </a:lnTo>
                <a:cubicBezTo>
                  <a:pt x="122593" y="547187"/>
                  <a:pt x="0" y="424594"/>
                  <a:pt x="0" y="273593"/>
                </a:cubicBezTo>
                <a:lnTo>
                  <a:pt x="0" y="273593"/>
                </a:lnTo>
                <a:cubicBezTo>
                  <a:pt x="0" y="122593"/>
                  <a:pt x="122593" y="0"/>
                  <a:pt x="273593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Shape 44"/>
          <p:cNvSpPr/>
          <p:nvPr/>
        </p:nvSpPr>
        <p:spPr>
          <a:xfrm>
            <a:off x="709870" y="6115951"/>
            <a:ext cx="256494" cy="256494"/>
          </a:xfrm>
          <a:custGeom>
            <a:avLst/>
            <a:gdLst/>
            <a:ahLst/>
            <a:cxnLst/>
            <a:rect l="l" t="t" r="r" b="b"/>
            <a:pathLst>
              <a:path w="256494" h="256494">
                <a:moveTo>
                  <a:pt x="60116" y="28054"/>
                </a:moveTo>
                <a:cubicBezTo>
                  <a:pt x="60116" y="12574"/>
                  <a:pt x="72690" y="0"/>
                  <a:pt x="88170" y="0"/>
                </a:cubicBezTo>
                <a:lnTo>
                  <a:pt x="100193" y="0"/>
                </a:lnTo>
                <a:cubicBezTo>
                  <a:pt x="109060" y="0"/>
                  <a:pt x="116224" y="7164"/>
                  <a:pt x="116224" y="16031"/>
                </a:cubicBezTo>
                <a:lnTo>
                  <a:pt x="116224" y="240463"/>
                </a:lnTo>
                <a:cubicBezTo>
                  <a:pt x="116224" y="249330"/>
                  <a:pt x="109060" y="256494"/>
                  <a:pt x="100193" y="256494"/>
                </a:cubicBezTo>
                <a:lnTo>
                  <a:pt x="84162" y="256494"/>
                </a:lnTo>
                <a:cubicBezTo>
                  <a:pt x="69233" y="256494"/>
                  <a:pt x="56659" y="246274"/>
                  <a:pt x="53102" y="232447"/>
                </a:cubicBezTo>
                <a:cubicBezTo>
                  <a:pt x="52752" y="232447"/>
                  <a:pt x="52451" y="232447"/>
                  <a:pt x="52100" y="232447"/>
                </a:cubicBezTo>
                <a:cubicBezTo>
                  <a:pt x="29958" y="232447"/>
                  <a:pt x="12023" y="214513"/>
                  <a:pt x="12023" y="192370"/>
                </a:cubicBezTo>
                <a:cubicBezTo>
                  <a:pt x="12023" y="183353"/>
                  <a:pt x="15029" y="175037"/>
                  <a:pt x="20039" y="168324"/>
                </a:cubicBezTo>
                <a:cubicBezTo>
                  <a:pt x="10320" y="161010"/>
                  <a:pt x="4008" y="149388"/>
                  <a:pt x="4008" y="136262"/>
                </a:cubicBezTo>
                <a:cubicBezTo>
                  <a:pt x="4008" y="120782"/>
                  <a:pt x="12825" y="107307"/>
                  <a:pt x="25649" y="100644"/>
                </a:cubicBezTo>
                <a:cubicBezTo>
                  <a:pt x="22093" y="94632"/>
                  <a:pt x="20039" y="87619"/>
                  <a:pt x="20039" y="80154"/>
                </a:cubicBezTo>
                <a:cubicBezTo>
                  <a:pt x="20039" y="58012"/>
                  <a:pt x="37973" y="40077"/>
                  <a:pt x="60116" y="40077"/>
                </a:cubicBezTo>
                <a:lnTo>
                  <a:pt x="60116" y="28054"/>
                </a:lnTo>
                <a:close/>
                <a:moveTo>
                  <a:pt x="196378" y="28054"/>
                </a:moveTo>
                <a:lnTo>
                  <a:pt x="196378" y="40077"/>
                </a:lnTo>
                <a:cubicBezTo>
                  <a:pt x="218521" y="40077"/>
                  <a:pt x="236455" y="58012"/>
                  <a:pt x="236455" y="80154"/>
                </a:cubicBezTo>
                <a:cubicBezTo>
                  <a:pt x="236455" y="87669"/>
                  <a:pt x="234401" y="94682"/>
                  <a:pt x="230844" y="100644"/>
                </a:cubicBezTo>
                <a:cubicBezTo>
                  <a:pt x="243719" y="107307"/>
                  <a:pt x="252486" y="120732"/>
                  <a:pt x="252486" y="136262"/>
                </a:cubicBezTo>
                <a:cubicBezTo>
                  <a:pt x="252486" y="149388"/>
                  <a:pt x="246174" y="161010"/>
                  <a:pt x="236455" y="168324"/>
                </a:cubicBezTo>
                <a:cubicBezTo>
                  <a:pt x="241465" y="175037"/>
                  <a:pt x="244471" y="183353"/>
                  <a:pt x="244471" y="192370"/>
                </a:cubicBezTo>
                <a:cubicBezTo>
                  <a:pt x="244471" y="214513"/>
                  <a:pt x="226536" y="232447"/>
                  <a:pt x="204393" y="232447"/>
                </a:cubicBezTo>
                <a:cubicBezTo>
                  <a:pt x="204043" y="232447"/>
                  <a:pt x="203742" y="232447"/>
                  <a:pt x="203391" y="232447"/>
                </a:cubicBezTo>
                <a:cubicBezTo>
                  <a:pt x="199835" y="246274"/>
                  <a:pt x="187260" y="256494"/>
                  <a:pt x="172332" y="256494"/>
                </a:cubicBezTo>
                <a:lnTo>
                  <a:pt x="156301" y="256494"/>
                </a:lnTo>
                <a:cubicBezTo>
                  <a:pt x="147434" y="256494"/>
                  <a:pt x="140270" y="249330"/>
                  <a:pt x="140270" y="240463"/>
                </a:cubicBezTo>
                <a:lnTo>
                  <a:pt x="140270" y="16031"/>
                </a:lnTo>
                <a:cubicBezTo>
                  <a:pt x="140270" y="7164"/>
                  <a:pt x="147434" y="0"/>
                  <a:pt x="156301" y="0"/>
                </a:cubicBezTo>
                <a:lnTo>
                  <a:pt x="168324" y="0"/>
                </a:lnTo>
                <a:cubicBezTo>
                  <a:pt x="183804" y="0"/>
                  <a:pt x="196378" y="12574"/>
                  <a:pt x="196378" y="28054"/>
                </a:cubicBezTo>
                <a:close/>
              </a:path>
            </a:pathLst>
          </a:custGeom>
          <a:solidFill>
            <a:srgbClr val="111317"/>
          </a:solidFill>
          <a:ln/>
        </p:spPr>
      </p:sp>
      <p:sp>
        <p:nvSpPr>
          <p:cNvPr id="47" name="Text 45"/>
          <p:cNvSpPr/>
          <p:nvPr/>
        </p:nvSpPr>
        <p:spPr>
          <a:xfrm>
            <a:off x="1280569" y="5970604"/>
            <a:ext cx="556591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Fusion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80569" y="6278397"/>
            <a:ext cx="5540264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audio, visual, and text signals into a single "viral score" for each moment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84882" y="5850907"/>
            <a:ext cx="1342317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42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65.7%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361830" y="6192899"/>
            <a:ext cx="126536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1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370380" y="6432293"/>
            <a:ext cx="125681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77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 recognition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572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spc="222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Feature Set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634725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Production Suite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625" y="1163662"/>
            <a:ext cx="1128399" cy="17631"/>
          </a:xfrm>
          <a:custGeom>
            <a:avLst/>
            <a:gdLst/>
            <a:ahLst/>
            <a:cxnLst/>
            <a:rect l="l" t="t" r="r" b="b"/>
            <a:pathLst>
              <a:path w="1128399" h="17631">
                <a:moveTo>
                  <a:pt x="0" y="0"/>
                </a:moveTo>
                <a:lnTo>
                  <a:pt x="1128399" y="0"/>
                </a:lnTo>
                <a:lnTo>
                  <a:pt x="1128399" y="17631"/>
                </a:lnTo>
                <a:lnTo>
                  <a:pt x="0" y="1763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60461" y="1400704"/>
            <a:ext cx="7879204" cy="2730883"/>
          </a:xfrm>
          <a:custGeom>
            <a:avLst/>
            <a:gdLst/>
            <a:ahLst/>
            <a:cxnLst/>
            <a:rect l="l" t="t" r="r" b="b"/>
            <a:pathLst>
              <a:path w="7879204" h="2730883">
                <a:moveTo>
                  <a:pt x="70511" y="0"/>
                </a:moveTo>
                <a:lnTo>
                  <a:pt x="7808692" y="0"/>
                </a:lnTo>
                <a:cubicBezTo>
                  <a:pt x="7847635" y="0"/>
                  <a:pt x="7879204" y="31569"/>
                  <a:pt x="7879204" y="70511"/>
                </a:cubicBezTo>
                <a:lnTo>
                  <a:pt x="7879204" y="2660371"/>
                </a:lnTo>
                <a:cubicBezTo>
                  <a:pt x="7879204" y="2699314"/>
                  <a:pt x="7847635" y="2730883"/>
                  <a:pt x="7808692" y="2730883"/>
                </a:cubicBezTo>
                <a:lnTo>
                  <a:pt x="70511" y="2730883"/>
                </a:lnTo>
                <a:cubicBezTo>
                  <a:pt x="31569" y="2730883"/>
                  <a:pt x="0" y="2699314"/>
                  <a:pt x="0" y="2660371"/>
                </a:cubicBezTo>
                <a:lnTo>
                  <a:pt x="0" y="70511"/>
                </a:lnTo>
                <a:cubicBezTo>
                  <a:pt x="0" y="31595"/>
                  <a:pt x="31595" y="0"/>
                  <a:pt x="70511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872" y="1865975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246837" y="0"/>
                </a:moveTo>
                <a:lnTo>
                  <a:pt x="246837" y="0"/>
                </a:lnTo>
                <a:cubicBezTo>
                  <a:pt x="383071" y="0"/>
                  <a:pt x="493675" y="110604"/>
                  <a:pt x="493675" y="246837"/>
                </a:cubicBezTo>
                <a:lnTo>
                  <a:pt x="493675" y="246837"/>
                </a:lnTo>
                <a:cubicBezTo>
                  <a:pt x="493675" y="383071"/>
                  <a:pt x="383071" y="493675"/>
                  <a:pt x="246837" y="493675"/>
                </a:cubicBezTo>
                <a:lnTo>
                  <a:pt x="246837" y="493675"/>
                </a:lnTo>
                <a:cubicBezTo>
                  <a:pt x="110604" y="493675"/>
                  <a:pt x="0" y="383071"/>
                  <a:pt x="0" y="246837"/>
                </a:cubicBezTo>
                <a:lnTo>
                  <a:pt x="0" y="246837"/>
                </a:lnTo>
                <a:cubicBezTo>
                  <a:pt x="0" y="110604"/>
                  <a:pt x="110604" y="0"/>
                  <a:pt x="246837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922" y="2007025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52894" y="13223"/>
                </a:moveTo>
                <a:cubicBezTo>
                  <a:pt x="52894" y="5909"/>
                  <a:pt x="46984" y="0"/>
                  <a:pt x="39670" y="0"/>
                </a:cubicBezTo>
                <a:cubicBezTo>
                  <a:pt x="32356" y="0"/>
                  <a:pt x="26447" y="5909"/>
                  <a:pt x="26447" y="13223"/>
                </a:cubicBezTo>
                <a:lnTo>
                  <a:pt x="26447" y="26447"/>
                </a:lnTo>
                <a:lnTo>
                  <a:pt x="13223" y="26447"/>
                </a:lnTo>
                <a:cubicBezTo>
                  <a:pt x="5909" y="26447"/>
                  <a:pt x="0" y="32356"/>
                  <a:pt x="0" y="39670"/>
                </a:cubicBezTo>
                <a:cubicBezTo>
                  <a:pt x="0" y="46984"/>
                  <a:pt x="5909" y="52894"/>
                  <a:pt x="13223" y="52894"/>
                </a:cubicBezTo>
                <a:lnTo>
                  <a:pt x="26447" y="52894"/>
                </a:lnTo>
                <a:lnTo>
                  <a:pt x="26447" y="158681"/>
                </a:lnTo>
                <a:cubicBezTo>
                  <a:pt x="26447" y="173268"/>
                  <a:pt x="38307" y="185128"/>
                  <a:pt x="52894" y="185128"/>
                </a:cubicBezTo>
                <a:lnTo>
                  <a:pt x="138846" y="185128"/>
                </a:lnTo>
                <a:lnTo>
                  <a:pt x="138846" y="158681"/>
                </a:lnTo>
                <a:lnTo>
                  <a:pt x="52894" y="158681"/>
                </a:lnTo>
                <a:lnTo>
                  <a:pt x="52894" y="13223"/>
                </a:lnTo>
                <a:close/>
                <a:moveTo>
                  <a:pt x="158681" y="198351"/>
                </a:moveTo>
                <a:cubicBezTo>
                  <a:pt x="158681" y="205666"/>
                  <a:pt x="164590" y="211575"/>
                  <a:pt x="171905" y="211575"/>
                </a:cubicBezTo>
                <a:cubicBezTo>
                  <a:pt x="179219" y="211575"/>
                  <a:pt x="185128" y="205666"/>
                  <a:pt x="185128" y="198351"/>
                </a:cubicBezTo>
                <a:lnTo>
                  <a:pt x="185128" y="185128"/>
                </a:lnTo>
                <a:lnTo>
                  <a:pt x="198351" y="185128"/>
                </a:lnTo>
                <a:cubicBezTo>
                  <a:pt x="205666" y="185128"/>
                  <a:pt x="211575" y="179219"/>
                  <a:pt x="211575" y="171905"/>
                </a:cubicBezTo>
                <a:cubicBezTo>
                  <a:pt x="211575" y="164590"/>
                  <a:pt x="205666" y="158681"/>
                  <a:pt x="198351" y="158681"/>
                </a:cubicBezTo>
                <a:lnTo>
                  <a:pt x="185128" y="158681"/>
                </a:lnTo>
                <a:lnTo>
                  <a:pt x="185128" y="52894"/>
                </a:lnTo>
                <a:cubicBezTo>
                  <a:pt x="185128" y="38307"/>
                  <a:pt x="173268" y="26447"/>
                  <a:pt x="158681" y="26447"/>
                </a:cubicBezTo>
                <a:lnTo>
                  <a:pt x="72729" y="26447"/>
                </a:lnTo>
                <a:lnTo>
                  <a:pt x="72729" y="52894"/>
                </a:lnTo>
                <a:lnTo>
                  <a:pt x="158681" y="52894"/>
                </a:lnTo>
                <a:lnTo>
                  <a:pt x="158681" y="19835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214596" y="1971763"/>
            <a:ext cx="1172477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Crop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872" y="2500700"/>
            <a:ext cx="751972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tracks the speaker's face</a:t>
            </a:r>
            <a:pPr>
              <a:lnSpc>
                <a:spcPct val="130000"/>
              </a:lnSpc>
            </a:pPr>
            <a:r>
              <a:rPr lang="en-US" sz="12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preserving expressive zones during vertical conversion.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6319" y="2923850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26709" y="2888587"/>
            <a:ext cx="317362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Tracking: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Maintains speaker centered in frame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6319" y="3205949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26709" y="3170687"/>
            <a:ext cx="474280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Expressive Zone Preservation: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Keeps forehead, eyebrows, and jawline visible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6319" y="3488049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826709" y="3452787"/>
            <a:ext cx="4125709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Transitions: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predicts movement to prevent jarring crops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0461" y="4321656"/>
            <a:ext cx="7879204" cy="2730883"/>
          </a:xfrm>
          <a:custGeom>
            <a:avLst/>
            <a:gdLst/>
            <a:ahLst/>
            <a:cxnLst/>
            <a:rect l="l" t="t" r="r" b="b"/>
            <a:pathLst>
              <a:path w="7879204" h="2730883">
                <a:moveTo>
                  <a:pt x="70511" y="0"/>
                </a:moveTo>
                <a:lnTo>
                  <a:pt x="7808692" y="0"/>
                </a:lnTo>
                <a:cubicBezTo>
                  <a:pt x="7847635" y="0"/>
                  <a:pt x="7879204" y="31569"/>
                  <a:pt x="7879204" y="70511"/>
                </a:cubicBezTo>
                <a:lnTo>
                  <a:pt x="7879204" y="2660371"/>
                </a:lnTo>
                <a:cubicBezTo>
                  <a:pt x="7879204" y="2699314"/>
                  <a:pt x="7847635" y="2730883"/>
                  <a:pt x="7808692" y="2730883"/>
                </a:cubicBezTo>
                <a:lnTo>
                  <a:pt x="70511" y="2730883"/>
                </a:lnTo>
                <a:cubicBezTo>
                  <a:pt x="31569" y="2730883"/>
                  <a:pt x="0" y="2699314"/>
                  <a:pt x="0" y="2660371"/>
                </a:cubicBezTo>
                <a:lnTo>
                  <a:pt x="0" y="70511"/>
                </a:lnTo>
                <a:cubicBezTo>
                  <a:pt x="0" y="31595"/>
                  <a:pt x="31595" y="0"/>
                  <a:pt x="70511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872" y="4786924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246837" y="0"/>
                </a:moveTo>
                <a:lnTo>
                  <a:pt x="246837" y="0"/>
                </a:lnTo>
                <a:cubicBezTo>
                  <a:pt x="383071" y="0"/>
                  <a:pt x="493675" y="110604"/>
                  <a:pt x="493675" y="246837"/>
                </a:cubicBezTo>
                <a:lnTo>
                  <a:pt x="493675" y="246837"/>
                </a:lnTo>
                <a:cubicBezTo>
                  <a:pt x="493675" y="383071"/>
                  <a:pt x="383071" y="493675"/>
                  <a:pt x="246837" y="493675"/>
                </a:cubicBezTo>
                <a:lnTo>
                  <a:pt x="246837" y="493675"/>
                </a:lnTo>
                <a:cubicBezTo>
                  <a:pt x="110604" y="493675"/>
                  <a:pt x="0" y="383071"/>
                  <a:pt x="0" y="246837"/>
                </a:cubicBezTo>
                <a:lnTo>
                  <a:pt x="0" y="246837"/>
                </a:lnTo>
                <a:cubicBezTo>
                  <a:pt x="0" y="110604"/>
                  <a:pt x="110604" y="0"/>
                  <a:pt x="246837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0922" y="4927974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0" y="52894"/>
                </a:moveTo>
                <a:cubicBezTo>
                  <a:pt x="0" y="38307"/>
                  <a:pt x="11860" y="26447"/>
                  <a:pt x="26447" y="26447"/>
                </a:cubicBezTo>
                <a:lnTo>
                  <a:pt x="185128" y="26447"/>
                </a:lnTo>
                <a:cubicBezTo>
                  <a:pt x="199715" y="26447"/>
                  <a:pt x="211575" y="38307"/>
                  <a:pt x="211575" y="52894"/>
                </a:cubicBezTo>
                <a:lnTo>
                  <a:pt x="211575" y="158681"/>
                </a:lnTo>
                <a:cubicBezTo>
                  <a:pt x="211575" y="173268"/>
                  <a:pt x="199715" y="185128"/>
                  <a:pt x="185128" y="185128"/>
                </a:cubicBezTo>
                <a:lnTo>
                  <a:pt x="26447" y="185128"/>
                </a:lnTo>
                <a:cubicBezTo>
                  <a:pt x="11860" y="185128"/>
                  <a:pt x="0" y="173268"/>
                  <a:pt x="0" y="158681"/>
                </a:cubicBezTo>
                <a:lnTo>
                  <a:pt x="0" y="52894"/>
                </a:lnTo>
                <a:close/>
                <a:moveTo>
                  <a:pt x="62811" y="85952"/>
                </a:moveTo>
                <a:lnTo>
                  <a:pt x="76035" y="85952"/>
                </a:lnTo>
                <a:cubicBezTo>
                  <a:pt x="77853" y="85952"/>
                  <a:pt x="79341" y="87440"/>
                  <a:pt x="79341" y="89258"/>
                </a:cubicBezTo>
                <a:cubicBezTo>
                  <a:pt x="79341" y="94754"/>
                  <a:pt x="83762" y="99176"/>
                  <a:pt x="89258" y="99176"/>
                </a:cubicBezTo>
                <a:cubicBezTo>
                  <a:pt x="94754" y="99176"/>
                  <a:pt x="99176" y="94754"/>
                  <a:pt x="99176" y="89258"/>
                </a:cubicBezTo>
                <a:cubicBezTo>
                  <a:pt x="99176" y="76489"/>
                  <a:pt x="88804" y="66117"/>
                  <a:pt x="76035" y="66117"/>
                </a:cubicBezTo>
                <a:lnTo>
                  <a:pt x="62811" y="66117"/>
                </a:lnTo>
                <a:cubicBezTo>
                  <a:pt x="50042" y="66117"/>
                  <a:pt x="39670" y="76489"/>
                  <a:pt x="39670" y="89258"/>
                </a:cubicBezTo>
                <a:lnTo>
                  <a:pt x="39670" y="122317"/>
                </a:lnTo>
                <a:cubicBezTo>
                  <a:pt x="39670" y="135086"/>
                  <a:pt x="50042" y="145458"/>
                  <a:pt x="62811" y="145458"/>
                </a:cubicBezTo>
                <a:lnTo>
                  <a:pt x="76035" y="145458"/>
                </a:lnTo>
                <a:cubicBezTo>
                  <a:pt x="88804" y="145458"/>
                  <a:pt x="99176" y="135086"/>
                  <a:pt x="99176" y="122317"/>
                </a:cubicBezTo>
                <a:cubicBezTo>
                  <a:pt x="99176" y="116821"/>
                  <a:pt x="94754" y="112399"/>
                  <a:pt x="89258" y="112399"/>
                </a:cubicBezTo>
                <a:cubicBezTo>
                  <a:pt x="83762" y="112399"/>
                  <a:pt x="79341" y="116821"/>
                  <a:pt x="79341" y="122317"/>
                </a:cubicBezTo>
                <a:cubicBezTo>
                  <a:pt x="79341" y="124135"/>
                  <a:pt x="77853" y="125623"/>
                  <a:pt x="76035" y="125623"/>
                </a:cubicBezTo>
                <a:lnTo>
                  <a:pt x="62811" y="125623"/>
                </a:lnTo>
                <a:cubicBezTo>
                  <a:pt x="60993" y="125623"/>
                  <a:pt x="59505" y="124135"/>
                  <a:pt x="59505" y="122317"/>
                </a:cubicBezTo>
                <a:lnTo>
                  <a:pt x="59505" y="89258"/>
                </a:lnTo>
                <a:cubicBezTo>
                  <a:pt x="59505" y="87440"/>
                  <a:pt x="60993" y="85952"/>
                  <a:pt x="62811" y="85952"/>
                </a:cubicBezTo>
                <a:close/>
                <a:moveTo>
                  <a:pt x="132234" y="89258"/>
                </a:moveTo>
                <a:cubicBezTo>
                  <a:pt x="132234" y="87440"/>
                  <a:pt x="133722" y="85952"/>
                  <a:pt x="135540" y="85952"/>
                </a:cubicBezTo>
                <a:lnTo>
                  <a:pt x="148764" y="85952"/>
                </a:lnTo>
                <a:cubicBezTo>
                  <a:pt x="150582" y="85952"/>
                  <a:pt x="152069" y="87440"/>
                  <a:pt x="152069" y="89258"/>
                </a:cubicBezTo>
                <a:cubicBezTo>
                  <a:pt x="152069" y="94754"/>
                  <a:pt x="156491" y="99176"/>
                  <a:pt x="161987" y="99176"/>
                </a:cubicBezTo>
                <a:cubicBezTo>
                  <a:pt x="167483" y="99176"/>
                  <a:pt x="171905" y="94754"/>
                  <a:pt x="171905" y="89258"/>
                </a:cubicBezTo>
                <a:cubicBezTo>
                  <a:pt x="171905" y="76489"/>
                  <a:pt x="161532" y="66117"/>
                  <a:pt x="148764" y="66117"/>
                </a:cubicBezTo>
                <a:lnTo>
                  <a:pt x="135540" y="66117"/>
                </a:lnTo>
                <a:cubicBezTo>
                  <a:pt x="122771" y="66117"/>
                  <a:pt x="112399" y="76489"/>
                  <a:pt x="112399" y="89258"/>
                </a:cubicBezTo>
                <a:lnTo>
                  <a:pt x="112399" y="122317"/>
                </a:lnTo>
                <a:cubicBezTo>
                  <a:pt x="112399" y="135086"/>
                  <a:pt x="122771" y="145458"/>
                  <a:pt x="135540" y="145458"/>
                </a:cubicBezTo>
                <a:lnTo>
                  <a:pt x="148764" y="145458"/>
                </a:lnTo>
                <a:cubicBezTo>
                  <a:pt x="161532" y="145458"/>
                  <a:pt x="171905" y="135086"/>
                  <a:pt x="171905" y="122317"/>
                </a:cubicBezTo>
                <a:cubicBezTo>
                  <a:pt x="171905" y="116821"/>
                  <a:pt x="167483" y="112399"/>
                  <a:pt x="161987" y="112399"/>
                </a:cubicBezTo>
                <a:cubicBezTo>
                  <a:pt x="156491" y="112399"/>
                  <a:pt x="152069" y="116821"/>
                  <a:pt x="152069" y="122317"/>
                </a:cubicBezTo>
                <a:cubicBezTo>
                  <a:pt x="152069" y="124135"/>
                  <a:pt x="150582" y="125623"/>
                  <a:pt x="148764" y="125623"/>
                </a:cubicBezTo>
                <a:lnTo>
                  <a:pt x="135540" y="125623"/>
                </a:lnTo>
                <a:cubicBezTo>
                  <a:pt x="133722" y="125623"/>
                  <a:pt x="132234" y="124135"/>
                  <a:pt x="132234" y="122317"/>
                </a:cubicBezTo>
                <a:lnTo>
                  <a:pt x="132234" y="8925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1214596" y="4892711"/>
            <a:ext cx="1807202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Captions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872" y="5421648"/>
            <a:ext cx="751972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AI-generated, karaoke-style subtitles</a:t>
            </a:r>
            <a:pPr>
              <a:lnSpc>
                <a:spcPct val="130000"/>
              </a:lnSpc>
            </a:pPr>
            <a:r>
              <a:rPr lang="en-US" sz="12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high-contrast overlays, timed perfectly to speech patterns.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6319" y="5844798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826709" y="5809535"/>
            <a:ext cx="286507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Auto-Generated: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95%+ transcription accuracy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6319" y="6126898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826709" y="6091635"/>
            <a:ext cx="337638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Animated Overlays: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Words highlight as they're spoken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6319" y="6408997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826709" y="6373735"/>
            <a:ext cx="274165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Contrast: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Readable on any background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62994" y="1400704"/>
            <a:ext cx="3365607" cy="3074692"/>
          </a:xfrm>
          <a:custGeom>
            <a:avLst/>
            <a:gdLst/>
            <a:ahLst/>
            <a:cxnLst/>
            <a:rect l="l" t="t" r="r" b="b"/>
            <a:pathLst>
              <a:path w="3365607" h="3074692">
                <a:moveTo>
                  <a:pt x="70533" y="0"/>
                </a:moveTo>
                <a:lnTo>
                  <a:pt x="3295074" y="0"/>
                </a:lnTo>
                <a:cubicBezTo>
                  <a:pt x="3334028" y="0"/>
                  <a:pt x="3365607" y="31579"/>
                  <a:pt x="3365607" y="70533"/>
                </a:cubicBezTo>
                <a:lnTo>
                  <a:pt x="3365607" y="3004158"/>
                </a:lnTo>
                <a:cubicBezTo>
                  <a:pt x="3365607" y="3043113"/>
                  <a:pt x="3334028" y="3074692"/>
                  <a:pt x="3295074" y="3074692"/>
                </a:cubicBezTo>
                <a:lnTo>
                  <a:pt x="70533" y="3074692"/>
                </a:lnTo>
                <a:cubicBezTo>
                  <a:pt x="31579" y="3074692"/>
                  <a:pt x="0" y="3043113"/>
                  <a:pt x="0" y="3004158"/>
                </a:cubicBezTo>
                <a:lnTo>
                  <a:pt x="0" y="70533"/>
                </a:lnTo>
                <a:cubicBezTo>
                  <a:pt x="0" y="31579"/>
                  <a:pt x="31579" y="0"/>
                  <a:pt x="70533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2405" y="1720027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246837" y="0"/>
                </a:moveTo>
                <a:lnTo>
                  <a:pt x="246837" y="0"/>
                </a:lnTo>
                <a:cubicBezTo>
                  <a:pt x="383071" y="0"/>
                  <a:pt x="493675" y="110604"/>
                  <a:pt x="493675" y="246837"/>
                </a:cubicBezTo>
                <a:lnTo>
                  <a:pt x="493675" y="246837"/>
                </a:lnTo>
                <a:cubicBezTo>
                  <a:pt x="493675" y="383071"/>
                  <a:pt x="383071" y="493675"/>
                  <a:pt x="246837" y="493675"/>
                </a:cubicBezTo>
                <a:lnTo>
                  <a:pt x="246837" y="493675"/>
                </a:lnTo>
                <a:cubicBezTo>
                  <a:pt x="110604" y="493675"/>
                  <a:pt x="0" y="383071"/>
                  <a:pt x="0" y="246837"/>
                </a:cubicBezTo>
                <a:lnTo>
                  <a:pt x="0" y="246837"/>
                </a:lnTo>
                <a:cubicBezTo>
                  <a:pt x="0" y="110604"/>
                  <a:pt x="110604" y="0"/>
                  <a:pt x="246837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36678" y="1861077"/>
            <a:ext cx="185128" cy="211575"/>
          </a:xfrm>
          <a:custGeom>
            <a:avLst/>
            <a:gdLst/>
            <a:ahLst/>
            <a:cxnLst/>
            <a:rect l="l" t="t" r="r" b="b"/>
            <a:pathLst>
              <a:path w="185128" h="211575">
                <a:moveTo>
                  <a:pt x="140003" y="-4091"/>
                </a:moveTo>
                <a:cubicBezTo>
                  <a:pt x="144920" y="-537"/>
                  <a:pt x="146739" y="5909"/>
                  <a:pt x="144507" y="11529"/>
                </a:cubicBezTo>
                <a:lnTo>
                  <a:pt x="112110" y="92564"/>
                </a:lnTo>
                <a:lnTo>
                  <a:pt x="171905" y="92564"/>
                </a:lnTo>
                <a:cubicBezTo>
                  <a:pt x="177483" y="92564"/>
                  <a:pt x="182442" y="96035"/>
                  <a:pt x="184343" y="101283"/>
                </a:cubicBezTo>
                <a:cubicBezTo>
                  <a:pt x="186244" y="106531"/>
                  <a:pt x="184632" y="112399"/>
                  <a:pt x="180376" y="115953"/>
                </a:cubicBezTo>
                <a:lnTo>
                  <a:pt x="61365" y="215129"/>
                </a:lnTo>
                <a:cubicBezTo>
                  <a:pt x="56695" y="219013"/>
                  <a:pt x="50042" y="219220"/>
                  <a:pt x="45125" y="215666"/>
                </a:cubicBezTo>
                <a:cubicBezTo>
                  <a:pt x="40207" y="212112"/>
                  <a:pt x="38389" y="205666"/>
                  <a:pt x="40621" y="200046"/>
                </a:cubicBezTo>
                <a:lnTo>
                  <a:pt x="73018" y="119011"/>
                </a:lnTo>
                <a:lnTo>
                  <a:pt x="13223" y="119011"/>
                </a:lnTo>
                <a:cubicBezTo>
                  <a:pt x="7645" y="119011"/>
                  <a:pt x="2686" y="115540"/>
                  <a:pt x="785" y="110292"/>
                </a:cubicBezTo>
                <a:cubicBezTo>
                  <a:pt x="-1116" y="105044"/>
                  <a:pt x="496" y="99176"/>
                  <a:pt x="4752" y="95622"/>
                </a:cubicBezTo>
                <a:lnTo>
                  <a:pt x="123763" y="-3554"/>
                </a:lnTo>
                <a:cubicBezTo>
                  <a:pt x="128433" y="-7438"/>
                  <a:pt x="135086" y="-7645"/>
                  <a:pt x="140003" y="-409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9317129" y="1825814"/>
            <a:ext cx="1674967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 Generation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2405" y="2354751"/>
            <a:ext cx="3006126" cy="74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creates scroll-stopping headlines</a:t>
            </a:r>
            <a:pPr>
              <a:lnSpc>
                <a:spcPct val="130000"/>
              </a:lnSpc>
            </a:pPr>
            <a:r>
              <a:rPr lang="en-US" sz="12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descriptions optimized for each platform.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00036" y="3271576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8912508" y="3236313"/>
            <a:ext cx="2768104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Optimization: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TikTok vs. Reels vs. Shorts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04444" y="3765250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119782" y="19312"/>
                </a:moveTo>
                <a:cubicBezTo>
                  <a:pt x="123722" y="22177"/>
                  <a:pt x="124603" y="27687"/>
                  <a:pt x="121738" y="31626"/>
                </a:cubicBezTo>
                <a:lnTo>
                  <a:pt x="51213" y="128598"/>
                </a:lnTo>
                <a:cubicBezTo>
                  <a:pt x="49698" y="130692"/>
                  <a:pt x="47356" y="131986"/>
                  <a:pt x="44767" y="132207"/>
                </a:cubicBezTo>
                <a:cubicBezTo>
                  <a:pt x="42177" y="132427"/>
                  <a:pt x="39670" y="131463"/>
                  <a:pt x="37852" y="129645"/>
                </a:cubicBezTo>
                <a:lnTo>
                  <a:pt x="2590" y="94382"/>
                </a:lnTo>
                <a:cubicBezTo>
                  <a:pt x="-854" y="90939"/>
                  <a:pt x="-854" y="85346"/>
                  <a:pt x="2590" y="81903"/>
                </a:cubicBezTo>
                <a:cubicBezTo>
                  <a:pt x="6033" y="78459"/>
                  <a:pt x="11626" y="78459"/>
                  <a:pt x="15069" y="81903"/>
                </a:cubicBezTo>
                <a:lnTo>
                  <a:pt x="43031" y="109865"/>
                </a:lnTo>
                <a:lnTo>
                  <a:pt x="107495" y="21240"/>
                </a:lnTo>
                <a:cubicBezTo>
                  <a:pt x="110361" y="17301"/>
                  <a:pt x="115870" y="16419"/>
                  <a:pt x="119810" y="192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8916957" y="3729988"/>
            <a:ext cx="2768104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Trending Keywords: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Incorporates viral hashtags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62994" y="4664484"/>
            <a:ext cx="3365607" cy="2387074"/>
          </a:xfrm>
          <a:custGeom>
            <a:avLst/>
            <a:gdLst/>
            <a:ahLst/>
            <a:cxnLst/>
            <a:rect l="l" t="t" r="r" b="b"/>
            <a:pathLst>
              <a:path w="3365607" h="2387074">
                <a:moveTo>
                  <a:pt x="70514" y="0"/>
                </a:moveTo>
                <a:lnTo>
                  <a:pt x="3295093" y="0"/>
                </a:lnTo>
                <a:cubicBezTo>
                  <a:pt x="3334037" y="0"/>
                  <a:pt x="3365607" y="31570"/>
                  <a:pt x="3365607" y="70514"/>
                </a:cubicBezTo>
                <a:lnTo>
                  <a:pt x="3365607" y="2316559"/>
                </a:lnTo>
                <a:cubicBezTo>
                  <a:pt x="3365607" y="2355503"/>
                  <a:pt x="3334037" y="2387074"/>
                  <a:pt x="3295093" y="2387074"/>
                </a:cubicBezTo>
                <a:lnTo>
                  <a:pt x="70514" y="2387074"/>
                </a:lnTo>
                <a:cubicBezTo>
                  <a:pt x="31570" y="2387074"/>
                  <a:pt x="0" y="2355503"/>
                  <a:pt x="0" y="2316559"/>
                </a:cubicBezTo>
                <a:lnTo>
                  <a:pt x="0" y="70514"/>
                </a:lnTo>
                <a:cubicBezTo>
                  <a:pt x="0" y="31570"/>
                  <a:pt x="31570" y="0"/>
                  <a:pt x="7051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03064" y="4848633"/>
            <a:ext cx="3085466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Upload → Week of Content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11880" y="5236520"/>
            <a:ext cx="99616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60-min lecture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84488" y="5236520"/>
            <a:ext cx="2115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73853" y="5236520"/>
            <a:ext cx="71406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10-15 clips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11880" y="5518620"/>
            <a:ext cx="10578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90-min podcast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49014" y="5518620"/>
            <a:ext cx="2115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35481" y="5518620"/>
            <a:ext cx="652356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8-12 clips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11880" y="5800720"/>
            <a:ext cx="113721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4-hour workshop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20730" y="5800720"/>
            <a:ext cx="21157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00348" y="5800720"/>
            <a:ext cx="78459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20-30 clips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47142" y="6157263"/>
            <a:ext cx="2997310" cy="7836"/>
          </a:xfrm>
          <a:custGeom>
            <a:avLst/>
            <a:gdLst/>
            <a:ahLst/>
            <a:cxnLst/>
            <a:rect l="l" t="t" r="r" b="b"/>
            <a:pathLst>
              <a:path w="2997310" h="7836">
                <a:moveTo>
                  <a:pt x="0" y="0"/>
                </a:moveTo>
                <a:lnTo>
                  <a:pt x="2997310" y="0"/>
                </a:lnTo>
                <a:lnTo>
                  <a:pt x="2997310" y="7836"/>
                </a:lnTo>
                <a:lnTo>
                  <a:pt x="0" y="78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581025" y="6302229"/>
            <a:ext cx="3129544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min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07472" y="6619591"/>
            <a:ext cx="307665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processing 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7" y="332207"/>
            <a:ext cx="1159402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spc="209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Hood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207" y="597973"/>
            <a:ext cx="11726910" cy="398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Multimodal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207" y="1096283"/>
            <a:ext cx="1063063" cy="16610"/>
          </a:xfrm>
          <a:custGeom>
            <a:avLst/>
            <a:gdLst/>
            <a:ahLst/>
            <a:cxnLst/>
            <a:rect l="l" t="t" r="r" b="b"/>
            <a:pathLst>
              <a:path w="1063063" h="16610">
                <a:moveTo>
                  <a:pt x="0" y="0"/>
                </a:moveTo>
                <a:lnTo>
                  <a:pt x="1063063" y="0"/>
                </a:lnTo>
                <a:lnTo>
                  <a:pt x="1063063" y="16610"/>
                </a:lnTo>
                <a:lnTo>
                  <a:pt x="0" y="1661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35898" y="1315909"/>
            <a:ext cx="7614925" cy="6219655"/>
          </a:xfrm>
          <a:custGeom>
            <a:avLst/>
            <a:gdLst/>
            <a:ahLst/>
            <a:cxnLst/>
            <a:rect l="l" t="t" r="r" b="b"/>
            <a:pathLst>
              <a:path w="7614925" h="6219655">
                <a:moveTo>
                  <a:pt x="66426" y="0"/>
                </a:moveTo>
                <a:lnTo>
                  <a:pt x="7548499" y="0"/>
                </a:lnTo>
                <a:cubicBezTo>
                  <a:pt x="7585185" y="0"/>
                  <a:pt x="7614925" y="29740"/>
                  <a:pt x="7614925" y="66426"/>
                </a:cubicBezTo>
                <a:lnTo>
                  <a:pt x="7614925" y="6153229"/>
                </a:lnTo>
                <a:cubicBezTo>
                  <a:pt x="7614925" y="6189915"/>
                  <a:pt x="7585185" y="6219655"/>
                  <a:pt x="7548499" y="6219655"/>
                </a:cubicBezTo>
                <a:lnTo>
                  <a:pt x="66426" y="6219655"/>
                </a:lnTo>
                <a:cubicBezTo>
                  <a:pt x="29740" y="6219655"/>
                  <a:pt x="0" y="6189915"/>
                  <a:pt x="0" y="6153229"/>
                </a:cubicBezTo>
                <a:lnTo>
                  <a:pt x="0" y="66426"/>
                </a:lnTo>
                <a:cubicBezTo>
                  <a:pt x="0" y="29740"/>
                  <a:pt x="29740" y="0"/>
                  <a:pt x="66426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7388" y="1518927"/>
            <a:ext cx="729194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 &amp; Data Flow</a:t>
            </a:r>
            <a:endParaRPr lang="en-US" sz="1600" dirty="0"/>
          </a:p>
        </p:txBody>
      </p:sp>
      <p:pic>
        <p:nvPicPr>
          <p:cNvPr id="7" name="Image 0" descr="https://kimi-img.moonshot.cn/pub/slides/26-01-17-17:05:57-d5ll1ta0p58r7kilcq8g.png">    </p:cNvPr>
          <p:cNvPicPr>
            <a:picLocks noChangeAspect="1"/>
          </p:cNvPicPr>
          <p:nvPr/>
        </p:nvPicPr>
        <p:blipFill>
          <a:blip r:embed="rId1"/>
          <a:srcRect l="0" r="0" t="5" b="5"/>
          <a:stretch/>
        </p:blipFill>
        <p:spPr>
          <a:xfrm>
            <a:off x="538914" y="1917575"/>
            <a:ext cx="6162441" cy="3986485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168603" y="1312218"/>
            <a:ext cx="3695189" cy="1935106"/>
          </a:xfrm>
          <a:custGeom>
            <a:avLst/>
            <a:gdLst/>
            <a:ahLst/>
            <a:cxnLst/>
            <a:rect l="l" t="t" r="r" b="b"/>
            <a:pathLst>
              <a:path w="3695189" h="1935106">
                <a:moveTo>
                  <a:pt x="0" y="0"/>
                </a:moveTo>
                <a:lnTo>
                  <a:pt x="3695189" y="0"/>
                </a:lnTo>
                <a:lnTo>
                  <a:pt x="3695189" y="1935106"/>
                </a:lnTo>
                <a:lnTo>
                  <a:pt x="0" y="19351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168603" y="1312218"/>
            <a:ext cx="31990" cy="1935106"/>
          </a:xfrm>
          <a:custGeom>
            <a:avLst/>
            <a:gdLst/>
            <a:ahLst/>
            <a:cxnLst/>
            <a:rect l="l" t="t" r="r" b="b"/>
            <a:pathLst>
              <a:path w="31990" h="1935106">
                <a:moveTo>
                  <a:pt x="0" y="0"/>
                </a:moveTo>
                <a:lnTo>
                  <a:pt x="31990" y="0"/>
                </a:lnTo>
                <a:lnTo>
                  <a:pt x="31990" y="1935106"/>
                </a:lnTo>
                <a:lnTo>
                  <a:pt x="0" y="19351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8350702" y="1445101"/>
            <a:ext cx="3596142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Pipeline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50702" y="1777308"/>
            <a:ext cx="14118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90506" y="1777308"/>
            <a:ext cx="177730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Upload (supports 1GB+)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50702" y="2043074"/>
            <a:ext cx="16610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16037" y="2043074"/>
            <a:ext cx="1561373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stream processing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50702" y="2308839"/>
            <a:ext cx="16610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19497" y="2308839"/>
            <a:ext cx="1719172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alignment &amp; fusion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50702" y="2574605"/>
            <a:ext cx="16610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15882" y="2574605"/>
            <a:ext cx="132882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Viral score calculation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50702" y="2840371"/>
            <a:ext cx="16610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19881" y="2840371"/>
            <a:ext cx="1470016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Clip generation &amp; export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68603" y="3413622"/>
            <a:ext cx="3695189" cy="1993243"/>
          </a:xfrm>
          <a:custGeom>
            <a:avLst/>
            <a:gdLst/>
            <a:ahLst/>
            <a:cxnLst/>
            <a:rect l="l" t="t" r="r" b="b"/>
            <a:pathLst>
              <a:path w="3695189" h="1993243">
                <a:moveTo>
                  <a:pt x="0" y="0"/>
                </a:moveTo>
                <a:lnTo>
                  <a:pt x="3695189" y="0"/>
                </a:lnTo>
                <a:lnTo>
                  <a:pt x="3695189" y="1993243"/>
                </a:lnTo>
                <a:lnTo>
                  <a:pt x="0" y="19932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168603" y="3413622"/>
            <a:ext cx="31990" cy="1993243"/>
          </a:xfrm>
          <a:custGeom>
            <a:avLst/>
            <a:gdLst/>
            <a:ahLst/>
            <a:cxnLst/>
            <a:rect l="l" t="t" r="r" b="b"/>
            <a:pathLst>
              <a:path w="31990" h="1993243">
                <a:moveTo>
                  <a:pt x="0" y="0"/>
                </a:moveTo>
                <a:lnTo>
                  <a:pt x="31990" y="0"/>
                </a:lnTo>
                <a:lnTo>
                  <a:pt x="31990" y="1993243"/>
                </a:lnTo>
                <a:lnTo>
                  <a:pt x="0" y="19932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8350702" y="3546505"/>
            <a:ext cx="3596142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50702" y="3878712"/>
            <a:ext cx="1079673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462567" y="3878712"/>
            <a:ext cx="46509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13ms/s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50702" y="4111257"/>
            <a:ext cx="3571226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capability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50702" y="4377023"/>
            <a:ext cx="1254082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 Recognition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518088" y="4377023"/>
            <a:ext cx="415259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65.7%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50702" y="4609568"/>
            <a:ext cx="3571226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4.5% improvement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50702" y="4875334"/>
            <a:ext cx="11544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80485" y="4875334"/>
            <a:ext cx="4484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82.5 F1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350702" y="5107879"/>
            <a:ext cx="3571226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Out-of-domain data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59990" y="5580351"/>
            <a:ext cx="3693958" cy="1949871"/>
          </a:xfrm>
          <a:custGeom>
            <a:avLst/>
            <a:gdLst/>
            <a:ahLst/>
            <a:cxnLst/>
            <a:rect l="l" t="t" r="r" b="b"/>
            <a:pathLst>
              <a:path w="3693958" h="1949871">
                <a:moveTo>
                  <a:pt x="66432" y="0"/>
                </a:moveTo>
                <a:lnTo>
                  <a:pt x="3627526" y="0"/>
                </a:lnTo>
                <a:cubicBezTo>
                  <a:pt x="3664216" y="0"/>
                  <a:pt x="3693958" y="29743"/>
                  <a:pt x="3693958" y="66432"/>
                </a:cubicBezTo>
                <a:lnTo>
                  <a:pt x="3693958" y="1883439"/>
                </a:lnTo>
                <a:cubicBezTo>
                  <a:pt x="3693958" y="1920128"/>
                  <a:pt x="3664216" y="1949871"/>
                  <a:pt x="3627526" y="1949871"/>
                </a:cubicBezTo>
                <a:lnTo>
                  <a:pt x="66432" y="1949871"/>
                </a:lnTo>
                <a:cubicBezTo>
                  <a:pt x="29743" y="1949871"/>
                  <a:pt x="0" y="1920128"/>
                  <a:pt x="0" y="1883439"/>
                </a:cubicBezTo>
                <a:lnTo>
                  <a:pt x="0" y="66432"/>
                </a:lnTo>
                <a:cubicBezTo>
                  <a:pt x="0" y="29767"/>
                  <a:pt x="29767" y="0"/>
                  <a:pt x="6643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00256" y="5720617"/>
            <a:ext cx="3496480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300256" y="6052824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Python/PyTorch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041266" y="6052824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OpenFace/ViT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300256" y="6318589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CNN+BiLSTM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041266" y="6318589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300256" y="6584355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FFmpeg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041266" y="6584355"/>
            <a:ext cx="174408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React/Tailwind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20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Decoding Emotional Peaks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1016000" cy="15875"/>
          </a:xfrm>
          <a:custGeom>
            <a:avLst/>
            <a:gdLst/>
            <a:ahLst/>
            <a:cxnLst/>
            <a:rect l="l" t="t" r="r" b="b"/>
            <a:pathLst>
              <a:path w="1016000" h="15875">
                <a:moveTo>
                  <a:pt x="0" y="0"/>
                </a:moveTo>
                <a:lnTo>
                  <a:pt x="1016000" y="0"/>
                </a:lnTo>
                <a:lnTo>
                  <a:pt x="1016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24556" y="1261181"/>
            <a:ext cx="5665611" cy="4871861"/>
          </a:xfrm>
          <a:custGeom>
            <a:avLst/>
            <a:gdLst/>
            <a:ahLst/>
            <a:cxnLst/>
            <a:rect l="l" t="t" r="r" b="b"/>
            <a:pathLst>
              <a:path w="5665611" h="4871861">
                <a:moveTo>
                  <a:pt x="63480" y="0"/>
                </a:moveTo>
                <a:lnTo>
                  <a:pt x="5602131" y="0"/>
                </a:lnTo>
                <a:cubicBezTo>
                  <a:pt x="5637190" y="0"/>
                  <a:pt x="5665611" y="28421"/>
                  <a:pt x="5665611" y="63480"/>
                </a:cubicBezTo>
                <a:lnTo>
                  <a:pt x="5665611" y="4808381"/>
                </a:lnTo>
                <a:cubicBezTo>
                  <a:pt x="5665611" y="4843440"/>
                  <a:pt x="5637190" y="4871861"/>
                  <a:pt x="5602131" y="4871861"/>
                </a:cubicBezTo>
                <a:lnTo>
                  <a:pt x="63480" y="4871861"/>
                </a:lnTo>
                <a:cubicBezTo>
                  <a:pt x="28421" y="4871861"/>
                  <a:pt x="0" y="4843440"/>
                  <a:pt x="0" y="4808381"/>
                </a:cubicBezTo>
                <a:lnTo>
                  <a:pt x="0" y="63480"/>
                </a:lnTo>
                <a:cubicBezTo>
                  <a:pt x="0" y="28445"/>
                  <a:pt x="28445" y="0"/>
                  <a:pt x="63480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111" y="2072385"/>
            <a:ext cx="536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Fusion Algorithm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7398" y="2453385"/>
            <a:ext cx="5261975" cy="762000"/>
          </a:xfrm>
          <a:custGeom>
            <a:avLst/>
            <a:gdLst/>
            <a:ahLst/>
            <a:cxnLst/>
            <a:rect l="l" t="t" r="r" b="b"/>
            <a:pathLst>
              <a:path w="5261975" h="762000">
                <a:moveTo>
                  <a:pt x="0" y="0"/>
                </a:moveTo>
                <a:lnTo>
                  <a:pt x="5261975" y="0"/>
                </a:lnTo>
                <a:lnTo>
                  <a:pt x="5261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7398" y="2453385"/>
            <a:ext cx="30574" cy="762000"/>
          </a:xfrm>
          <a:custGeom>
            <a:avLst/>
            <a:gdLst/>
            <a:ahLst/>
            <a:cxnLst/>
            <a:rect l="l" t="t" r="r" b="b"/>
            <a:pathLst>
              <a:path w="30574" h="762000">
                <a:moveTo>
                  <a:pt x="0" y="0"/>
                </a:moveTo>
                <a:lnTo>
                  <a:pt x="30574" y="0"/>
                </a:lnTo>
                <a:lnTo>
                  <a:pt x="3057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79685" y="2516885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Feature Extraction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9685" y="2770885"/>
            <a:ext cx="5183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analysis of audio (MFCC, pitch), visual (Action Units), and text (sentiment) features.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7398" y="3342385"/>
            <a:ext cx="5261975" cy="579438"/>
          </a:xfrm>
          <a:custGeom>
            <a:avLst/>
            <a:gdLst/>
            <a:ahLst/>
            <a:cxnLst/>
            <a:rect l="l" t="t" r="r" b="b"/>
            <a:pathLst>
              <a:path w="5261975" h="579438">
                <a:moveTo>
                  <a:pt x="0" y="0"/>
                </a:moveTo>
                <a:lnTo>
                  <a:pt x="5261975" y="0"/>
                </a:lnTo>
                <a:lnTo>
                  <a:pt x="5261975" y="579438"/>
                </a:lnTo>
                <a:lnTo>
                  <a:pt x="0" y="5794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7398" y="3342385"/>
            <a:ext cx="30574" cy="579438"/>
          </a:xfrm>
          <a:custGeom>
            <a:avLst/>
            <a:gdLst/>
            <a:ahLst/>
            <a:cxnLst/>
            <a:rect l="l" t="t" r="r" b="b"/>
            <a:pathLst>
              <a:path w="30574" h="579438">
                <a:moveTo>
                  <a:pt x="0" y="0"/>
                </a:moveTo>
                <a:lnTo>
                  <a:pt x="30574" y="0"/>
                </a:lnTo>
                <a:lnTo>
                  <a:pt x="30574" y="579438"/>
                </a:lnTo>
                <a:lnTo>
                  <a:pt x="0" y="57943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679685" y="3405885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Peak Frame Selection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9685" y="3659885"/>
            <a:ext cx="518318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argmax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cumulative AU intensity to find peak emotional moments.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7398" y="4047939"/>
            <a:ext cx="5261975" cy="571500"/>
          </a:xfrm>
          <a:custGeom>
            <a:avLst/>
            <a:gdLst/>
            <a:ahLst/>
            <a:cxnLst/>
            <a:rect l="l" t="t" r="r" b="b"/>
            <a:pathLst>
              <a:path w="5261975" h="571500">
                <a:moveTo>
                  <a:pt x="0" y="0"/>
                </a:moveTo>
                <a:lnTo>
                  <a:pt x="5261975" y="0"/>
                </a:lnTo>
                <a:lnTo>
                  <a:pt x="52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7398" y="4047939"/>
            <a:ext cx="30574" cy="571500"/>
          </a:xfrm>
          <a:custGeom>
            <a:avLst/>
            <a:gdLst/>
            <a:ahLst/>
            <a:cxnLst/>
            <a:rect l="l" t="t" r="r" b="b"/>
            <a:pathLst>
              <a:path w="30574" h="571500">
                <a:moveTo>
                  <a:pt x="0" y="0"/>
                </a:moveTo>
                <a:lnTo>
                  <a:pt x="30574" y="0"/>
                </a:lnTo>
                <a:lnTo>
                  <a:pt x="305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679685" y="4111439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Temporal Alignment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685" y="4365439"/>
            <a:ext cx="518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Syncing audio-visual-text data with millisecond precision for coherent context.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7398" y="4746439"/>
            <a:ext cx="5261975" cy="571500"/>
          </a:xfrm>
          <a:custGeom>
            <a:avLst/>
            <a:gdLst/>
            <a:ahLst/>
            <a:cxnLst/>
            <a:rect l="l" t="t" r="r" b="b"/>
            <a:pathLst>
              <a:path w="5261975" h="571500">
                <a:moveTo>
                  <a:pt x="0" y="0"/>
                </a:moveTo>
                <a:lnTo>
                  <a:pt x="5261975" y="0"/>
                </a:lnTo>
                <a:lnTo>
                  <a:pt x="52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7398" y="4746439"/>
            <a:ext cx="30574" cy="571500"/>
          </a:xfrm>
          <a:custGeom>
            <a:avLst/>
            <a:gdLst/>
            <a:ahLst/>
            <a:cxnLst/>
            <a:rect l="l" t="t" r="r" b="b"/>
            <a:pathLst>
              <a:path w="30574" h="571500">
                <a:moveTo>
                  <a:pt x="0" y="0"/>
                </a:moveTo>
                <a:lnTo>
                  <a:pt x="30574" y="0"/>
                </a:lnTo>
                <a:lnTo>
                  <a:pt x="305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679685" y="4809939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Weighted Fusion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9685" y="5063939"/>
            <a:ext cx="518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confidence scores from each modality: F = αA + βV + γT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4556" y="6333759"/>
            <a:ext cx="5665611" cy="2601736"/>
          </a:xfrm>
          <a:custGeom>
            <a:avLst/>
            <a:gdLst/>
            <a:ahLst/>
            <a:cxnLst/>
            <a:rect l="l" t="t" r="r" b="b"/>
            <a:pathLst>
              <a:path w="5665611" h="2601736">
                <a:moveTo>
                  <a:pt x="63508" y="0"/>
                </a:moveTo>
                <a:lnTo>
                  <a:pt x="5602103" y="0"/>
                </a:lnTo>
                <a:cubicBezTo>
                  <a:pt x="5637177" y="0"/>
                  <a:pt x="5665611" y="28434"/>
                  <a:pt x="5665611" y="63508"/>
                </a:cubicBezTo>
                <a:lnTo>
                  <a:pt x="5665611" y="2538228"/>
                </a:lnTo>
                <a:cubicBezTo>
                  <a:pt x="5665611" y="2573302"/>
                  <a:pt x="5637177" y="2601736"/>
                  <a:pt x="5602103" y="2601736"/>
                </a:cubicBezTo>
                <a:lnTo>
                  <a:pt x="63508" y="2601736"/>
                </a:lnTo>
                <a:cubicBezTo>
                  <a:pt x="28434" y="2601736"/>
                  <a:pt x="0" y="2573302"/>
                  <a:pt x="0" y="2538228"/>
                </a:cubicBezTo>
                <a:lnTo>
                  <a:pt x="0" y="63508"/>
                </a:lnTo>
                <a:cubicBezTo>
                  <a:pt x="0" y="28434"/>
                  <a:pt x="28434" y="0"/>
                  <a:pt x="63508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361" y="6499565"/>
            <a:ext cx="541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Viral Score Calculation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889" y="6820592"/>
            <a:ext cx="5333118" cy="1943806"/>
          </a:xfrm>
          <a:custGeom>
            <a:avLst/>
            <a:gdLst/>
            <a:ahLst/>
            <a:cxnLst/>
            <a:rect l="l" t="t" r="r" b="b"/>
            <a:pathLst>
              <a:path w="5333118" h="1943806">
                <a:moveTo>
                  <a:pt x="31742" y="0"/>
                </a:moveTo>
                <a:lnTo>
                  <a:pt x="5301376" y="0"/>
                </a:lnTo>
                <a:cubicBezTo>
                  <a:pt x="5318907" y="0"/>
                  <a:pt x="5333118" y="14212"/>
                  <a:pt x="5333118" y="31742"/>
                </a:cubicBezTo>
                <a:lnTo>
                  <a:pt x="5333118" y="1912063"/>
                </a:lnTo>
                <a:cubicBezTo>
                  <a:pt x="5333118" y="1929594"/>
                  <a:pt x="5318907" y="1943806"/>
                  <a:pt x="5301376" y="1943806"/>
                </a:cubicBezTo>
                <a:lnTo>
                  <a:pt x="31742" y="1943806"/>
                </a:lnTo>
                <a:cubicBezTo>
                  <a:pt x="14212" y="1943806"/>
                  <a:pt x="0" y="1929594"/>
                  <a:pt x="0" y="1912063"/>
                </a:cubicBezTo>
                <a:lnTo>
                  <a:pt x="0" y="31742"/>
                </a:lnTo>
                <a:cubicBezTo>
                  <a:pt x="0" y="14223"/>
                  <a:pt x="14223" y="0"/>
                  <a:pt x="31742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667" y="691936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Emotional intensity score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2667" y="707811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 = Σ(AUᵢ × wᵢ)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2667" y="739561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Audio energy factor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2667" y="755436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= RMS(audio) × pitch_var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2667" y="787186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Text sentiment weight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2667" y="803061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 = sentiment_score × keywords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2667" y="834811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8F9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Final viral score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2667" y="8506868"/>
            <a:ext cx="519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 = αE + βA + γT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8306" y="1261181"/>
            <a:ext cx="5665611" cy="3736799"/>
          </a:xfrm>
          <a:custGeom>
            <a:avLst/>
            <a:gdLst/>
            <a:ahLst/>
            <a:cxnLst/>
            <a:rect l="l" t="t" r="r" b="b"/>
            <a:pathLst>
              <a:path w="5665611" h="3736799">
                <a:moveTo>
                  <a:pt x="63488" y="0"/>
                </a:moveTo>
                <a:lnTo>
                  <a:pt x="5602123" y="0"/>
                </a:lnTo>
                <a:cubicBezTo>
                  <a:pt x="5637186" y="0"/>
                  <a:pt x="5665611" y="28425"/>
                  <a:pt x="5665611" y="63488"/>
                </a:cubicBezTo>
                <a:lnTo>
                  <a:pt x="5665611" y="3673310"/>
                </a:lnTo>
                <a:cubicBezTo>
                  <a:pt x="5665611" y="3708374"/>
                  <a:pt x="5637186" y="3736799"/>
                  <a:pt x="5602123" y="3736799"/>
                </a:cubicBezTo>
                <a:lnTo>
                  <a:pt x="63488" y="3736799"/>
                </a:lnTo>
                <a:cubicBezTo>
                  <a:pt x="28425" y="3736799"/>
                  <a:pt x="0" y="3708374"/>
                  <a:pt x="0" y="3673310"/>
                </a:cubicBezTo>
                <a:lnTo>
                  <a:pt x="0" y="63488"/>
                </a:lnTo>
                <a:cubicBezTo>
                  <a:pt x="0" y="28425"/>
                  <a:pt x="28425" y="0"/>
                  <a:pt x="63488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5861" y="1929584"/>
            <a:ext cx="536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Benchmarks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5861" y="2310584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 Recognition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98554" y="2310584"/>
            <a:ext cx="44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65.7%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9389" y="2599862"/>
            <a:ext cx="5269618" cy="70556"/>
          </a:xfrm>
          <a:custGeom>
            <a:avLst/>
            <a:gdLst/>
            <a:ahLst/>
            <a:cxnLst/>
            <a:rect l="l" t="t" r="r" b="b"/>
            <a:pathLst>
              <a:path w="5269618" h="70556">
                <a:moveTo>
                  <a:pt x="35278" y="0"/>
                </a:moveTo>
                <a:lnTo>
                  <a:pt x="5234340" y="0"/>
                </a:lnTo>
                <a:cubicBezTo>
                  <a:pt x="5253824" y="0"/>
                  <a:pt x="5269618" y="15794"/>
                  <a:pt x="5269618" y="35278"/>
                </a:cubicBezTo>
                <a:lnTo>
                  <a:pt x="5269618" y="35278"/>
                </a:lnTo>
                <a:cubicBezTo>
                  <a:pt x="5269618" y="54761"/>
                  <a:pt x="5253824" y="70556"/>
                  <a:pt x="5234340" y="70556"/>
                </a:cubicBezTo>
                <a:lnTo>
                  <a:pt x="35278" y="70556"/>
                </a:lnTo>
                <a:cubicBezTo>
                  <a:pt x="15807" y="70556"/>
                  <a:pt x="0" y="54748"/>
                  <a:pt x="0" y="35278"/>
                </a:cubicBez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2917" y="2603388"/>
            <a:ext cx="3452813" cy="79375"/>
          </a:xfrm>
          <a:custGeom>
            <a:avLst/>
            <a:gdLst/>
            <a:ahLst/>
            <a:cxnLst/>
            <a:rect l="l" t="t" r="r" b="b"/>
            <a:pathLst>
              <a:path w="3452813" h="79375">
                <a:moveTo>
                  <a:pt x="39688" y="0"/>
                </a:moveTo>
                <a:lnTo>
                  <a:pt x="3413125" y="0"/>
                </a:lnTo>
                <a:cubicBezTo>
                  <a:pt x="3435029" y="0"/>
                  <a:pt x="3452813" y="17783"/>
                  <a:pt x="3452813" y="39688"/>
                </a:cubicBezTo>
                <a:lnTo>
                  <a:pt x="3452813" y="39688"/>
                </a:lnTo>
                <a:cubicBezTo>
                  <a:pt x="3452813" y="61592"/>
                  <a:pt x="3435029" y="79375"/>
                  <a:pt x="341312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6395861" y="2707459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+4.5% vs. SVM baseline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95861" y="3024959"/>
            <a:ext cx="123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90102" y="3024959"/>
            <a:ext cx="45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82.5%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9389" y="3314237"/>
            <a:ext cx="5269618" cy="70556"/>
          </a:xfrm>
          <a:custGeom>
            <a:avLst/>
            <a:gdLst/>
            <a:ahLst/>
            <a:cxnLst/>
            <a:rect l="l" t="t" r="r" b="b"/>
            <a:pathLst>
              <a:path w="5269618" h="70556">
                <a:moveTo>
                  <a:pt x="35278" y="0"/>
                </a:moveTo>
                <a:lnTo>
                  <a:pt x="5234340" y="0"/>
                </a:lnTo>
                <a:cubicBezTo>
                  <a:pt x="5253824" y="0"/>
                  <a:pt x="5269618" y="15794"/>
                  <a:pt x="5269618" y="35278"/>
                </a:cubicBezTo>
                <a:lnTo>
                  <a:pt x="5269618" y="35278"/>
                </a:lnTo>
                <a:cubicBezTo>
                  <a:pt x="5269618" y="54761"/>
                  <a:pt x="5253824" y="70556"/>
                  <a:pt x="5234340" y="70556"/>
                </a:cubicBezTo>
                <a:lnTo>
                  <a:pt x="35278" y="70556"/>
                </a:lnTo>
                <a:cubicBezTo>
                  <a:pt x="15807" y="70556"/>
                  <a:pt x="0" y="54748"/>
                  <a:pt x="0" y="35278"/>
                </a:cubicBez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2917" y="3317763"/>
            <a:ext cx="4341813" cy="79375"/>
          </a:xfrm>
          <a:custGeom>
            <a:avLst/>
            <a:gdLst/>
            <a:ahLst/>
            <a:cxnLst/>
            <a:rect l="l" t="t" r="r" b="b"/>
            <a:pathLst>
              <a:path w="4341813" h="79375">
                <a:moveTo>
                  <a:pt x="39688" y="0"/>
                </a:moveTo>
                <a:lnTo>
                  <a:pt x="4302125" y="0"/>
                </a:lnTo>
                <a:cubicBezTo>
                  <a:pt x="4324029" y="0"/>
                  <a:pt x="4341813" y="17783"/>
                  <a:pt x="4341813" y="39688"/>
                </a:cubicBezTo>
                <a:lnTo>
                  <a:pt x="4341813" y="39688"/>
                </a:lnTo>
                <a:cubicBezTo>
                  <a:pt x="4341813" y="61592"/>
                  <a:pt x="4324029" y="79375"/>
                  <a:pt x="430212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Text 43"/>
          <p:cNvSpPr/>
          <p:nvPr/>
        </p:nvSpPr>
        <p:spPr>
          <a:xfrm>
            <a:off x="6395861" y="3421834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 on out-of-domain data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95861" y="3739334"/>
            <a:ext cx="140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38801" y="3739334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13ms/s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9389" y="4028612"/>
            <a:ext cx="5269618" cy="70556"/>
          </a:xfrm>
          <a:custGeom>
            <a:avLst/>
            <a:gdLst/>
            <a:ahLst/>
            <a:cxnLst/>
            <a:rect l="l" t="t" r="r" b="b"/>
            <a:pathLst>
              <a:path w="5269618" h="70556">
                <a:moveTo>
                  <a:pt x="35278" y="0"/>
                </a:moveTo>
                <a:lnTo>
                  <a:pt x="5234340" y="0"/>
                </a:lnTo>
                <a:cubicBezTo>
                  <a:pt x="5253824" y="0"/>
                  <a:pt x="5269618" y="15794"/>
                  <a:pt x="5269618" y="35278"/>
                </a:cubicBezTo>
                <a:lnTo>
                  <a:pt x="5269618" y="35278"/>
                </a:lnTo>
                <a:cubicBezTo>
                  <a:pt x="5269618" y="54761"/>
                  <a:pt x="5253824" y="70556"/>
                  <a:pt x="5234340" y="70556"/>
                </a:cubicBezTo>
                <a:lnTo>
                  <a:pt x="35278" y="70556"/>
                </a:lnTo>
                <a:cubicBezTo>
                  <a:pt x="15807" y="70556"/>
                  <a:pt x="0" y="54748"/>
                  <a:pt x="0" y="35278"/>
                </a:cubicBezTo>
                <a:lnTo>
                  <a:pt x="0" y="35278"/>
                </a:lnTo>
                <a:cubicBezTo>
                  <a:pt x="0" y="15807"/>
                  <a:pt x="15807" y="0"/>
                  <a:pt x="35278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2917" y="4032138"/>
            <a:ext cx="5000625" cy="79375"/>
          </a:xfrm>
          <a:custGeom>
            <a:avLst/>
            <a:gdLst/>
            <a:ahLst/>
            <a:cxnLst/>
            <a:rect l="l" t="t" r="r" b="b"/>
            <a:pathLst>
              <a:path w="5000625" h="79375">
                <a:moveTo>
                  <a:pt x="39688" y="0"/>
                </a:moveTo>
                <a:lnTo>
                  <a:pt x="4960938" y="0"/>
                </a:lnTo>
                <a:cubicBezTo>
                  <a:pt x="4982842" y="0"/>
                  <a:pt x="5000625" y="17783"/>
                  <a:pt x="5000625" y="39688"/>
                </a:cubicBezTo>
                <a:lnTo>
                  <a:pt x="5000625" y="39688"/>
                </a:lnTo>
                <a:cubicBezTo>
                  <a:pt x="5000625" y="61592"/>
                  <a:pt x="4982842" y="79375"/>
                  <a:pt x="49609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6395861" y="4136209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second of speech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8306" y="5199762"/>
            <a:ext cx="5665611" cy="3736799"/>
          </a:xfrm>
          <a:custGeom>
            <a:avLst/>
            <a:gdLst/>
            <a:ahLst/>
            <a:cxnLst/>
            <a:rect l="l" t="t" r="r" b="b"/>
            <a:pathLst>
              <a:path w="5665611" h="3736799">
                <a:moveTo>
                  <a:pt x="63488" y="0"/>
                </a:moveTo>
                <a:lnTo>
                  <a:pt x="5602123" y="0"/>
                </a:lnTo>
                <a:cubicBezTo>
                  <a:pt x="5637186" y="0"/>
                  <a:pt x="5665611" y="28425"/>
                  <a:pt x="5665611" y="63488"/>
                </a:cubicBezTo>
                <a:lnTo>
                  <a:pt x="5665611" y="3673310"/>
                </a:lnTo>
                <a:cubicBezTo>
                  <a:pt x="5665611" y="3708374"/>
                  <a:pt x="5637186" y="3736799"/>
                  <a:pt x="5602123" y="3736799"/>
                </a:cubicBezTo>
                <a:lnTo>
                  <a:pt x="63488" y="3736799"/>
                </a:lnTo>
                <a:cubicBezTo>
                  <a:pt x="28425" y="3736799"/>
                  <a:pt x="0" y="3708374"/>
                  <a:pt x="0" y="3673310"/>
                </a:cubicBezTo>
                <a:lnTo>
                  <a:pt x="0" y="63488"/>
                </a:lnTo>
                <a:cubicBezTo>
                  <a:pt x="0" y="28425"/>
                  <a:pt x="28425" y="0"/>
                  <a:pt x="63488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5861" y="6126572"/>
            <a:ext cx="536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 &amp; Training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9674" y="653932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6618111" y="6507572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RAVDESS: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Ryerson Audio-Visual Database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19674" y="682507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6" name="Text 54"/>
          <p:cNvSpPr/>
          <p:nvPr/>
        </p:nvSpPr>
        <p:spPr>
          <a:xfrm>
            <a:off x="6618111" y="6793322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EmoDB: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Berlin Emotional Speech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19674" y="711082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6618111" y="7079072"/>
            <a:ext cx="206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Toronto Emotional Speech Set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19674" y="739657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6618111" y="736482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MERR: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Multimodal Emotion Recognition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95861" y="7685850"/>
            <a:ext cx="5270500" cy="7056"/>
          </a:xfrm>
          <a:custGeom>
            <a:avLst/>
            <a:gdLst/>
            <a:ahLst/>
            <a:cxnLst/>
            <a:rect l="l" t="t" r="r" b="b"/>
            <a:pathLst>
              <a:path w="5270500" h="7056">
                <a:moveTo>
                  <a:pt x="0" y="0"/>
                </a:moveTo>
                <a:lnTo>
                  <a:pt x="5270500" y="0"/>
                </a:lnTo>
                <a:lnTo>
                  <a:pt x="5270500" y="7056"/>
                </a:lnTo>
                <a:lnTo>
                  <a:pt x="0" y="705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95861" y="7816379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Augmentation: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Noise addition, spectrogram shifting for robustness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227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From Upload to Viral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911" y="1187708"/>
            <a:ext cx="1151717" cy="17996"/>
          </a:xfrm>
          <a:custGeom>
            <a:avLst/>
            <a:gdLst/>
            <a:ahLst/>
            <a:cxnLst/>
            <a:rect l="l" t="t" r="r" b="b"/>
            <a:pathLst>
              <a:path w="1151717" h="17996">
                <a:moveTo>
                  <a:pt x="0" y="0"/>
                </a:moveTo>
                <a:lnTo>
                  <a:pt x="1151717" y="0"/>
                </a:lnTo>
                <a:lnTo>
                  <a:pt x="1151717" y="17996"/>
                </a:lnTo>
                <a:lnTo>
                  <a:pt x="0" y="179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63910" y="1425649"/>
            <a:ext cx="7791083" cy="5469654"/>
          </a:xfrm>
          <a:custGeom>
            <a:avLst/>
            <a:gdLst/>
            <a:ahLst/>
            <a:cxnLst/>
            <a:rect l="l" t="t" r="r" b="b"/>
            <a:pathLst>
              <a:path w="7791083" h="5469654">
                <a:moveTo>
                  <a:pt x="71981" y="0"/>
                </a:moveTo>
                <a:lnTo>
                  <a:pt x="7719102" y="0"/>
                </a:lnTo>
                <a:cubicBezTo>
                  <a:pt x="7758856" y="0"/>
                  <a:pt x="7791083" y="32227"/>
                  <a:pt x="7791083" y="71981"/>
                </a:cubicBezTo>
                <a:lnTo>
                  <a:pt x="7791083" y="5397673"/>
                </a:lnTo>
                <a:cubicBezTo>
                  <a:pt x="7791083" y="5437427"/>
                  <a:pt x="7758856" y="5469654"/>
                  <a:pt x="7719102" y="5469654"/>
                </a:cubicBezTo>
                <a:lnTo>
                  <a:pt x="71981" y="5469654"/>
                </a:lnTo>
                <a:cubicBezTo>
                  <a:pt x="32227" y="5469654"/>
                  <a:pt x="0" y="5437427"/>
                  <a:pt x="0" y="5397673"/>
                </a:cubicBezTo>
                <a:lnTo>
                  <a:pt x="0" y="71981"/>
                </a:lnTo>
                <a:cubicBezTo>
                  <a:pt x="0" y="32227"/>
                  <a:pt x="32227" y="0"/>
                  <a:pt x="71981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8867" y="1645593"/>
            <a:ext cx="744116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User Flow</a:t>
            </a:r>
            <a:endParaRPr lang="en-US" sz="1600" dirty="0"/>
          </a:p>
        </p:txBody>
      </p:sp>
      <p:pic>
        <p:nvPicPr>
          <p:cNvPr id="7" name="Image 0" descr="https://kimi-img.moonshot.cn/pub/slides/26-01-17-17:05:57-d5ll1td43351hnq4h0cg.png">    </p:cNvPr>
          <p:cNvPicPr>
            <a:picLocks noChangeAspect="1"/>
          </p:cNvPicPr>
          <p:nvPr/>
        </p:nvPicPr>
        <p:blipFill>
          <a:blip r:embed="rId1"/>
          <a:srcRect l="17" r="17" t="0" b="0"/>
          <a:stretch/>
        </p:blipFill>
        <p:spPr>
          <a:xfrm>
            <a:off x="583856" y="2077487"/>
            <a:ext cx="6676357" cy="455288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391269" y="1421650"/>
            <a:ext cx="3436488" cy="1232697"/>
          </a:xfrm>
          <a:custGeom>
            <a:avLst/>
            <a:gdLst/>
            <a:ahLst/>
            <a:cxnLst/>
            <a:rect l="l" t="t" r="r" b="b"/>
            <a:pathLst>
              <a:path w="3436488" h="1232697">
                <a:moveTo>
                  <a:pt x="0" y="0"/>
                </a:moveTo>
                <a:lnTo>
                  <a:pt x="3436488" y="0"/>
                </a:lnTo>
                <a:lnTo>
                  <a:pt x="343648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391269" y="1421650"/>
            <a:ext cx="34658" cy="1232697"/>
          </a:xfrm>
          <a:custGeom>
            <a:avLst/>
            <a:gdLst/>
            <a:ahLst/>
            <a:cxnLst/>
            <a:rect l="l" t="t" r="r" b="b"/>
            <a:pathLst>
              <a:path w="34658" h="1232697">
                <a:moveTo>
                  <a:pt x="0" y="0"/>
                </a:moveTo>
                <a:lnTo>
                  <a:pt x="34658" y="0"/>
                </a:lnTo>
                <a:lnTo>
                  <a:pt x="3465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Shape 7"/>
          <p:cNvSpPr/>
          <p:nvPr/>
        </p:nvSpPr>
        <p:spPr>
          <a:xfrm>
            <a:off x="8588554" y="1565615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79956" y="0"/>
                </a:moveTo>
                <a:lnTo>
                  <a:pt x="179956" y="0"/>
                </a:lnTo>
                <a:cubicBezTo>
                  <a:pt x="279276" y="0"/>
                  <a:pt x="359911" y="80635"/>
                  <a:pt x="359911" y="179956"/>
                </a:cubicBezTo>
                <a:lnTo>
                  <a:pt x="359911" y="179956"/>
                </a:lnTo>
                <a:cubicBezTo>
                  <a:pt x="359911" y="279276"/>
                  <a:pt x="279276" y="359911"/>
                  <a:pt x="179956" y="359911"/>
                </a:cubicBezTo>
                <a:lnTo>
                  <a:pt x="179956" y="359911"/>
                </a:lnTo>
                <a:cubicBezTo>
                  <a:pt x="80635" y="359911"/>
                  <a:pt x="0" y="279276"/>
                  <a:pt x="0" y="179956"/>
                </a:cubicBezTo>
                <a:lnTo>
                  <a:pt x="0" y="179956"/>
                </a:lnTo>
                <a:cubicBezTo>
                  <a:pt x="0" y="80635"/>
                  <a:pt x="80635" y="0"/>
                  <a:pt x="17995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8543565" y="1565615"/>
            <a:ext cx="449889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113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56439" y="1619601"/>
            <a:ext cx="116071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Video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88554" y="2033500"/>
            <a:ext cx="331118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interface supporting files up to 1GB. Accepts MP4, MOV, AVI formats.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91269" y="2835296"/>
            <a:ext cx="3436488" cy="1232697"/>
          </a:xfrm>
          <a:custGeom>
            <a:avLst/>
            <a:gdLst/>
            <a:ahLst/>
            <a:cxnLst/>
            <a:rect l="l" t="t" r="r" b="b"/>
            <a:pathLst>
              <a:path w="3436488" h="1232697">
                <a:moveTo>
                  <a:pt x="0" y="0"/>
                </a:moveTo>
                <a:lnTo>
                  <a:pt x="3436488" y="0"/>
                </a:lnTo>
                <a:lnTo>
                  <a:pt x="343648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391269" y="2835296"/>
            <a:ext cx="34658" cy="1232697"/>
          </a:xfrm>
          <a:custGeom>
            <a:avLst/>
            <a:gdLst/>
            <a:ahLst/>
            <a:cxnLst/>
            <a:rect l="l" t="t" r="r" b="b"/>
            <a:pathLst>
              <a:path w="34658" h="1232697">
                <a:moveTo>
                  <a:pt x="0" y="0"/>
                </a:moveTo>
                <a:lnTo>
                  <a:pt x="34658" y="0"/>
                </a:lnTo>
                <a:lnTo>
                  <a:pt x="3465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3"/>
          <p:cNvSpPr/>
          <p:nvPr/>
        </p:nvSpPr>
        <p:spPr>
          <a:xfrm>
            <a:off x="8588554" y="2979260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79956" y="0"/>
                </a:moveTo>
                <a:lnTo>
                  <a:pt x="179956" y="0"/>
                </a:lnTo>
                <a:cubicBezTo>
                  <a:pt x="279276" y="0"/>
                  <a:pt x="359911" y="80635"/>
                  <a:pt x="359911" y="179956"/>
                </a:cubicBezTo>
                <a:lnTo>
                  <a:pt x="359911" y="179956"/>
                </a:lnTo>
                <a:cubicBezTo>
                  <a:pt x="359911" y="279276"/>
                  <a:pt x="279276" y="359911"/>
                  <a:pt x="179956" y="359911"/>
                </a:cubicBezTo>
                <a:lnTo>
                  <a:pt x="179956" y="359911"/>
                </a:lnTo>
                <a:cubicBezTo>
                  <a:pt x="80635" y="359911"/>
                  <a:pt x="0" y="279276"/>
                  <a:pt x="0" y="179956"/>
                </a:cubicBezTo>
                <a:lnTo>
                  <a:pt x="0" y="179956"/>
                </a:lnTo>
                <a:cubicBezTo>
                  <a:pt x="0" y="80635"/>
                  <a:pt x="80635" y="0"/>
                  <a:pt x="17995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4"/>
          <p:cNvSpPr/>
          <p:nvPr/>
        </p:nvSpPr>
        <p:spPr>
          <a:xfrm>
            <a:off x="8543565" y="2979260"/>
            <a:ext cx="449889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113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56439" y="3033247"/>
            <a:ext cx="96276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88554" y="3447145"/>
            <a:ext cx="331118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multimodal processing with progress indicators for audio, visual, and text analysis.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91269" y="4248950"/>
            <a:ext cx="3436488" cy="1232697"/>
          </a:xfrm>
          <a:custGeom>
            <a:avLst/>
            <a:gdLst/>
            <a:ahLst/>
            <a:cxnLst/>
            <a:rect l="l" t="t" r="r" b="b"/>
            <a:pathLst>
              <a:path w="3436488" h="1232697">
                <a:moveTo>
                  <a:pt x="0" y="0"/>
                </a:moveTo>
                <a:lnTo>
                  <a:pt x="3436488" y="0"/>
                </a:lnTo>
                <a:lnTo>
                  <a:pt x="343648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391269" y="4248950"/>
            <a:ext cx="34658" cy="1232697"/>
          </a:xfrm>
          <a:custGeom>
            <a:avLst/>
            <a:gdLst/>
            <a:ahLst/>
            <a:cxnLst/>
            <a:rect l="l" t="t" r="r" b="b"/>
            <a:pathLst>
              <a:path w="34658" h="1232697">
                <a:moveTo>
                  <a:pt x="0" y="0"/>
                </a:moveTo>
                <a:lnTo>
                  <a:pt x="34658" y="0"/>
                </a:lnTo>
                <a:lnTo>
                  <a:pt x="3465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Shape 19"/>
          <p:cNvSpPr/>
          <p:nvPr/>
        </p:nvSpPr>
        <p:spPr>
          <a:xfrm>
            <a:off x="8588554" y="4392914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79956" y="0"/>
                </a:moveTo>
                <a:lnTo>
                  <a:pt x="179956" y="0"/>
                </a:lnTo>
                <a:cubicBezTo>
                  <a:pt x="279276" y="0"/>
                  <a:pt x="359911" y="80635"/>
                  <a:pt x="359911" y="179956"/>
                </a:cubicBezTo>
                <a:lnTo>
                  <a:pt x="359911" y="179956"/>
                </a:lnTo>
                <a:cubicBezTo>
                  <a:pt x="359911" y="279276"/>
                  <a:pt x="279276" y="359911"/>
                  <a:pt x="179956" y="359911"/>
                </a:cubicBezTo>
                <a:lnTo>
                  <a:pt x="179956" y="359911"/>
                </a:lnTo>
                <a:cubicBezTo>
                  <a:pt x="80635" y="359911"/>
                  <a:pt x="0" y="279276"/>
                  <a:pt x="0" y="179956"/>
                </a:cubicBezTo>
                <a:lnTo>
                  <a:pt x="0" y="179956"/>
                </a:lnTo>
                <a:cubicBezTo>
                  <a:pt x="0" y="80635"/>
                  <a:pt x="80635" y="0"/>
                  <a:pt x="17995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8543565" y="4392914"/>
            <a:ext cx="449889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113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6439" y="4446901"/>
            <a:ext cx="118770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&amp; Edit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88554" y="4860799"/>
            <a:ext cx="331118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 for reviewing clips, previewing vertical crop, and editing captions.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391269" y="5662604"/>
            <a:ext cx="3436488" cy="1232697"/>
          </a:xfrm>
          <a:custGeom>
            <a:avLst/>
            <a:gdLst/>
            <a:ahLst/>
            <a:cxnLst/>
            <a:rect l="l" t="t" r="r" b="b"/>
            <a:pathLst>
              <a:path w="3436488" h="1232697">
                <a:moveTo>
                  <a:pt x="0" y="0"/>
                </a:moveTo>
                <a:lnTo>
                  <a:pt x="3436488" y="0"/>
                </a:lnTo>
                <a:lnTo>
                  <a:pt x="343648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391269" y="5662604"/>
            <a:ext cx="34658" cy="1232697"/>
          </a:xfrm>
          <a:custGeom>
            <a:avLst/>
            <a:gdLst/>
            <a:ahLst/>
            <a:cxnLst/>
            <a:rect l="l" t="t" r="r" b="b"/>
            <a:pathLst>
              <a:path w="34658" h="1232697">
                <a:moveTo>
                  <a:pt x="0" y="0"/>
                </a:moveTo>
                <a:lnTo>
                  <a:pt x="34658" y="0"/>
                </a:lnTo>
                <a:lnTo>
                  <a:pt x="34658" y="1232697"/>
                </a:lnTo>
                <a:lnTo>
                  <a:pt x="0" y="123269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Shape 25"/>
          <p:cNvSpPr/>
          <p:nvPr/>
        </p:nvSpPr>
        <p:spPr>
          <a:xfrm>
            <a:off x="8588554" y="580656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79956" y="0"/>
                </a:moveTo>
                <a:lnTo>
                  <a:pt x="179956" y="0"/>
                </a:lnTo>
                <a:cubicBezTo>
                  <a:pt x="279276" y="0"/>
                  <a:pt x="359911" y="80635"/>
                  <a:pt x="359911" y="179956"/>
                </a:cubicBezTo>
                <a:lnTo>
                  <a:pt x="359911" y="179956"/>
                </a:lnTo>
                <a:cubicBezTo>
                  <a:pt x="359911" y="279276"/>
                  <a:pt x="279276" y="359911"/>
                  <a:pt x="179956" y="359911"/>
                </a:cubicBezTo>
                <a:lnTo>
                  <a:pt x="179956" y="359911"/>
                </a:lnTo>
                <a:cubicBezTo>
                  <a:pt x="80635" y="359911"/>
                  <a:pt x="0" y="279276"/>
                  <a:pt x="0" y="179956"/>
                </a:cubicBezTo>
                <a:lnTo>
                  <a:pt x="0" y="179956"/>
                </a:lnTo>
                <a:cubicBezTo>
                  <a:pt x="0" y="80635"/>
                  <a:pt x="80635" y="0"/>
                  <a:pt x="17995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6"/>
          <p:cNvSpPr/>
          <p:nvPr/>
        </p:nvSpPr>
        <p:spPr>
          <a:xfrm>
            <a:off x="8543565" y="5806568"/>
            <a:ext cx="449889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113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056439" y="5860555"/>
            <a:ext cx="127768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&amp; Share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588554" y="6274453"/>
            <a:ext cx="331118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export to TikTok, Reels, and Shorts with optimized formats and generated hooks.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126" y="366126"/>
            <a:ext cx="1153297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spc="231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126" y="659027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We're Different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126" y="1208216"/>
            <a:ext cx="1171604" cy="18306"/>
          </a:xfrm>
          <a:custGeom>
            <a:avLst/>
            <a:gdLst/>
            <a:ahLst/>
            <a:cxnLst/>
            <a:rect l="l" t="t" r="r" b="b"/>
            <a:pathLst>
              <a:path w="1171604" h="18306">
                <a:moveTo>
                  <a:pt x="0" y="0"/>
                </a:moveTo>
                <a:lnTo>
                  <a:pt x="1171604" y="0"/>
                </a:lnTo>
                <a:lnTo>
                  <a:pt x="1171604" y="18306"/>
                </a:lnTo>
                <a:lnTo>
                  <a:pt x="0" y="1830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83754" y="1446198"/>
            <a:ext cx="11440763" cy="814631"/>
          </a:xfrm>
          <a:custGeom>
            <a:avLst/>
            <a:gdLst/>
            <a:ahLst/>
            <a:cxnLst/>
            <a:rect l="l" t="t" r="r" b="b"/>
            <a:pathLst>
              <a:path w="11440763" h="814631">
                <a:moveTo>
                  <a:pt x="0" y="0"/>
                </a:moveTo>
                <a:lnTo>
                  <a:pt x="11440763" y="0"/>
                </a:lnTo>
                <a:lnTo>
                  <a:pt x="11440763" y="814631"/>
                </a:lnTo>
                <a:lnTo>
                  <a:pt x="0" y="814631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3754" y="1446198"/>
            <a:ext cx="35257" cy="814631"/>
          </a:xfrm>
          <a:custGeom>
            <a:avLst/>
            <a:gdLst/>
            <a:ahLst/>
            <a:cxnLst/>
            <a:rect l="l" t="t" r="r" b="b"/>
            <a:pathLst>
              <a:path w="35257" h="814631">
                <a:moveTo>
                  <a:pt x="0" y="0"/>
                </a:moveTo>
                <a:lnTo>
                  <a:pt x="35257" y="0"/>
                </a:lnTo>
                <a:lnTo>
                  <a:pt x="35257" y="814631"/>
                </a:lnTo>
                <a:lnTo>
                  <a:pt x="0" y="81463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621058" y="1556036"/>
            <a:ext cx="11294991" cy="594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tools</a:t>
            </a:r>
            <a:pPr>
              <a:lnSpc>
                <a:spcPct val="140000"/>
              </a:lnSpc>
            </a:pPr>
            <a:r>
              <a:rPr lang="en-US" sz="144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focus on basic clipping and silence detection. </a:t>
            </a:r>
            <a:pPr>
              <a:lnSpc>
                <a:spcPct val="140000"/>
              </a:lnSpc>
            </a:pPr>
            <a:r>
              <a:rPr lang="en-US" sz="1441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</a:t>
            </a:r>
            <a:pPr>
              <a:lnSpc>
                <a:spcPct val="140000"/>
              </a:lnSpc>
            </a:pPr>
            <a:r>
              <a:rPr lang="en-US" sz="144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understands </a:t>
            </a:r>
            <a:pPr>
              <a:lnSpc>
                <a:spcPct val="140000"/>
              </a:lnSpc>
            </a:pPr>
            <a:r>
              <a:rPr lang="en-US" sz="144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depth</a:t>
            </a:r>
            <a:pPr>
              <a:lnSpc>
                <a:spcPct val="140000"/>
              </a:lnSpc>
            </a:pPr>
            <a:r>
              <a:rPr lang="en-US" sz="144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making it the only tool built specifically for educational and creator content with meaningful moments.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6126" y="2854767"/>
            <a:ext cx="11459748" cy="16272"/>
          </a:xfrm>
          <a:custGeom>
            <a:avLst/>
            <a:gdLst/>
            <a:ahLst/>
            <a:cxnLst/>
            <a:rect l="l" t="t" r="r" b="b"/>
            <a:pathLst>
              <a:path w="11459748" h="16272">
                <a:moveTo>
                  <a:pt x="0" y="0"/>
                </a:moveTo>
                <a:lnTo>
                  <a:pt x="11459748" y="0"/>
                </a:lnTo>
                <a:lnTo>
                  <a:pt x="11459748" y="16272"/>
                </a:lnTo>
                <a:lnTo>
                  <a:pt x="0" y="1627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324937" y="2480505"/>
            <a:ext cx="186724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63202" y="2480505"/>
            <a:ext cx="185809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96890" y="2480505"/>
            <a:ext cx="185809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Opus Clip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30579" y="2480505"/>
            <a:ext cx="185809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Adobe Express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64267" y="2480505"/>
            <a:ext cx="185809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CapCut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97955" y="2480505"/>
            <a:ext cx="185809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6126" y="3525994"/>
            <a:ext cx="11459748" cy="8136"/>
          </a:xfrm>
          <a:custGeom>
            <a:avLst/>
            <a:gdLst/>
            <a:ahLst/>
            <a:cxnLst/>
            <a:rect l="l" t="t" r="r" b="b"/>
            <a:pathLst>
              <a:path w="11459748" h="8136">
                <a:moveTo>
                  <a:pt x="0" y="0"/>
                </a:moveTo>
                <a:lnTo>
                  <a:pt x="11459748" y="0"/>
                </a:lnTo>
                <a:lnTo>
                  <a:pt x="11459748" y="8136"/>
                </a:lnTo>
                <a:lnTo>
                  <a:pt x="0" y="81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6126" y="3192412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Multimodal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38514" y="3222241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2203" y="3222241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05891" y="3222241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39580" y="3222241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64115" y="3222241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Shape 20"/>
          <p:cNvSpPr/>
          <p:nvPr/>
        </p:nvSpPr>
        <p:spPr>
          <a:xfrm>
            <a:off x="366126" y="3973480"/>
            <a:ext cx="11459748" cy="8136"/>
          </a:xfrm>
          <a:custGeom>
            <a:avLst/>
            <a:gdLst/>
            <a:ahLst/>
            <a:cxnLst/>
            <a:rect l="l" t="t" r="r" b="b"/>
            <a:pathLst>
              <a:path w="11459748" h="8136">
                <a:moveTo>
                  <a:pt x="0" y="0"/>
                </a:moveTo>
                <a:lnTo>
                  <a:pt x="11459748" y="0"/>
                </a:lnTo>
                <a:lnTo>
                  <a:pt x="11459748" y="8136"/>
                </a:lnTo>
                <a:lnTo>
                  <a:pt x="0" y="81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6126" y="3639898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Intelligence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38514" y="3669735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5" name="Shape 23"/>
          <p:cNvSpPr/>
          <p:nvPr/>
        </p:nvSpPr>
        <p:spPr>
          <a:xfrm>
            <a:off x="5063050" y="3669735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6" name="Shape 24"/>
          <p:cNvSpPr/>
          <p:nvPr/>
        </p:nvSpPr>
        <p:spPr>
          <a:xfrm>
            <a:off x="7005891" y="3669735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7" name="Shape 25"/>
          <p:cNvSpPr/>
          <p:nvPr/>
        </p:nvSpPr>
        <p:spPr>
          <a:xfrm>
            <a:off x="8939580" y="3669735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64115" y="3669735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366126" y="4420965"/>
            <a:ext cx="11459748" cy="8136"/>
          </a:xfrm>
          <a:custGeom>
            <a:avLst/>
            <a:gdLst/>
            <a:ahLst/>
            <a:cxnLst/>
            <a:rect l="l" t="t" r="r" b="b"/>
            <a:pathLst>
              <a:path w="11459748" h="8136">
                <a:moveTo>
                  <a:pt x="0" y="0"/>
                </a:moveTo>
                <a:lnTo>
                  <a:pt x="11459748" y="0"/>
                </a:lnTo>
                <a:lnTo>
                  <a:pt x="11459748" y="8136"/>
                </a:lnTo>
                <a:lnTo>
                  <a:pt x="0" y="81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6126" y="4087383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Context-Preserving Crop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38514" y="4117221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2" name="Shape 30"/>
          <p:cNvSpPr/>
          <p:nvPr/>
        </p:nvSpPr>
        <p:spPr>
          <a:xfrm>
            <a:off x="5063050" y="4117221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3" name="Shape 31"/>
          <p:cNvSpPr/>
          <p:nvPr/>
        </p:nvSpPr>
        <p:spPr>
          <a:xfrm>
            <a:off x="6996738" y="4117221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4" name="Shape 32"/>
          <p:cNvSpPr/>
          <p:nvPr/>
        </p:nvSpPr>
        <p:spPr>
          <a:xfrm>
            <a:off x="8930427" y="4117221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864115" y="4117221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Shape 34"/>
          <p:cNvSpPr/>
          <p:nvPr/>
        </p:nvSpPr>
        <p:spPr>
          <a:xfrm>
            <a:off x="366126" y="4868459"/>
            <a:ext cx="11459748" cy="8136"/>
          </a:xfrm>
          <a:custGeom>
            <a:avLst/>
            <a:gdLst/>
            <a:ahLst/>
            <a:cxnLst/>
            <a:rect l="l" t="t" r="r" b="b"/>
            <a:pathLst>
              <a:path w="11459748" h="8136">
                <a:moveTo>
                  <a:pt x="0" y="0"/>
                </a:moveTo>
                <a:lnTo>
                  <a:pt x="11459748" y="0"/>
                </a:lnTo>
                <a:lnTo>
                  <a:pt x="11459748" y="8136"/>
                </a:lnTo>
                <a:lnTo>
                  <a:pt x="0" y="81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66126" y="4534878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38514" y="456470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9" name="Shape 37"/>
          <p:cNvSpPr/>
          <p:nvPr/>
        </p:nvSpPr>
        <p:spPr>
          <a:xfrm>
            <a:off x="5072203" y="456470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0" name="Shape 38"/>
          <p:cNvSpPr/>
          <p:nvPr/>
        </p:nvSpPr>
        <p:spPr>
          <a:xfrm>
            <a:off x="7005891" y="456470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1" name="Shape 39"/>
          <p:cNvSpPr/>
          <p:nvPr/>
        </p:nvSpPr>
        <p:spPr>
          <a:xfrm>
            <a:off x="8939580" y="456470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64115" y="4564706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Shape 41"/>
          <p:cNvSpPr/>
          <p:nvPr/>
        </p:nvSpPr>
        <p:spPr>
          <a:xfrm>
            <a:off x="366126" y="5315945"/>
            <a:ext cx="11459748" cy="8136"/>
          </a:xfrm>
          <a:custGeom>
            <a:avLst/>
            <a:gdLst/>
            <a:ahLst/>
            <a:cxnLst/>
            <a:rect l="l" t="t" r="r" b="b"/>
            <a:pathLst>
              <a:path w="11459748" h="8136">
                <a:moveTo>
                  <a:pt x="0" y="0"/>
                </a:moveTo>
                <a:lnTo>
                  <a:pt x="11459748" y="0"/>
                </a:lnTo>
                <a:lnTo>
                  <a:pt x="11459748" y="8136"/>
                </a:lnTo>
                <a:lnTo>
                  <a:pt x="0" y="81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6126" y="4982363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Hook Generation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138514" y="5012192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6" name="Shape 44"/>
          <p:cNvSpPr/>
          <p:nvPr/>
        </p:nvSpPr>
        <p:spPr>
          <a:xfrm>
            <a:off x="5063050" y="5012192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7" name="Shape 45"/>
          <p:cNvSpPr/>
          <p:nvPr/>
        </p:nvSpPr>
        <p:spPr>
          <a:xfrm>
            <a:off x="7005891" y="5012192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8" name="Shape 46"/>
          <p:cNvSpPr/>
          <p:nvPr/>
        </p:nvSpPr>
        <p:spPr>
          <a:xfrm>
            <a:off x="8939580" y="5012192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64115" y="5012192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366126" y="5429849"/>
            <a:ext cx="185809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Focus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138514" y="545968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52" name="Shape 50"/>
          <p:cNvSpPr/>
          <p:nvPr/>
        </p:nvSpPr>
        <p:spPr>
          <a:xfrm>
            <a:off x="5072203" y="545968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53" name="Shape 51"/>
          <p:cNvSpPr/>
          <p:nvPr/>
        </p:nvSpPr>
        <p:spPr>
          <a:xfrm>
            <a:off x="7005891" y="545968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54" name="Shape 52"/>
          <p:cNvSpPr/>
          <p:nvPr/>
        </p:nvSpPr>
        <p:spPr>
          <a:xfrm>
            <a:off x="8939580" y="5459686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64115" y="5459686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6" name="Shape 54"/>
          <p:cNvSpPr/>
          <p:nvPr/>
        </p:nvSpPr>
        <p:spPr>
          <a:xfrm>
            <a:off x="383754" y="6125489"/>
            <a:ext cx="3651430" cy="732252"/>
          </a:xfrm>
          <a:custGeom>
            <a:avLst/>
            <a:gdLst/>
            <a:ahLst/>
            <a:cxnLst/>
            <a:rect l="l" t="t" r="r" b="b"/>
            <a:pathLst>
              <a:path w="3651430" h="732252">
                <a:moveTo>
                  <a:pt x="0" y="0"/>
                </a:moveTo>
                <a:lnTo>
                  <a:pt x="3651430" y="0"/>
                </a:lnTo>
                <a:lnTo>
                  <a:pt x="3651430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83754" y="6125489"/>
            <a:ext cx="35257" cy="732252"/>
          </a:xfrm>
          <a:custGeom>
            <a:avLst/>
            <a:gdLst/>
            <a:ahLst/>
            <a:cxnLst/>
            <a:rect l="l" t="t" r="r" b="b"/>
            <a:pathLst>
              <a:path w="35257" h="732252">
                <a:moveTo>
                  <a:pt x="0" y="0"/>
                </a:moveTo>
                <a:lnTo>
                  <a:pt x="35257" y="0"/>
                </a:lnTo>
                <a:lnTo>
                  <a:pt x="35257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584446" y="6235326"/>
            <a:ext cx="3533117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Legend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1905" y="6558064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124368" y="20051"/>
                </a:moveTo>
                <a:cubicBezTo>
                  <a:pt x="128459" y="23026"/>
                  <a:pt x="129374" y="28747"/>
                  <a:pt x="126399" y="32837"/>
                </a:cubicBezTo>
                <a:lnTo>
                  <a:pt x="53174" y="133522"/>
                </a:lnTo>
                <a:cubicBezTo>
                  <a:pt x="51601" y="135695"/>
                  <a:pt x="49170" y="137040"/>
                  <a:pt x="46481" y="137269"/>
                </a:cubicBezTo>
                <a:cubicBezTo>
                  <a:pt x="43792" y="137498"/>
                  <a:pt x="41189" y="136496"/>
                  <a:pt x="39301" y="134609"/>
                </a:cubicBezTo>
                <a:lnTo>
                  <a:pt x="2689" y="97996"/>
                </a:lnTo>
                <a:cubicBezTo>
                  <a:pt x="-887" y="94420"/>
                  <a:pt x="-887" y="88614"/>
                  <a:pt x="2689" y="85039"/>
                </a:cubicBezTo>
                <a:cubicBezTo>
                  <a:pt x="6264" y="81463"/>
                  <a:pt x="12071" y="81463"/>
                  <a:pt x="15646" y="85039"/>
                </a:cubicBezTo>
                <a:lnTo>
                  <a:pt x="44679" y="114071"/>
                </a:lnTo>
                <a:lnTo>
                  <a:pt x="111611" y="22053"/>
                </a:lnTo>
                <a:cubicBezTo>
                  <a:pt x="114586" y="17963"/>
                  <a:pt x="120307" y="17048"/>
                  <a:pt x="124397" y="200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767509" y="6528227"/>
            <a:ext cx="32951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96987" y="6558064"/>
            <a:ext cx="128144" cy="146450"/>
          </a:xfrm>
          <a:custGeom>
            <a:avLst/>
            <a:gdLst/>
            <a:ahLst/>
            <a:cxnLst/>
            <a:rect l="l" t="t" r="r" b="b"/>
            <a:pathLst>
              <a:path w="128144" h="146450">
                <a:moveTo>
                  <a:pt x="0" y="73225"/>
                </a:moveTo>
                <a:cubicBezTo>
                  <a:pt x="0" y="68162"/>
                  <a:pt x="4090" y="64072"/>
                  <a:pt x="9153" y="64072"/>
                </a:cubicBezTo>
                <a:lnTo>
                  <a:pt x="118991" y="64072"/>
                </a:lnTo>
                <a:cubicBezTo>
                  <a:pt x="124054" y="64072"/>
                  <a:pt x="128144" y="68162"/>
                  <a:pt x="128144" y="73225"/>
                </a:cubicBezTo>
                <a:cubicBezTo>
                  <a:pt x="128144" y="78288"/>
                  <a:pt x="124054" y="82378"/>
                  <a:pt x="118991" y="82378"/>
                </a:cubicBezTo>
                <a:lnTo>
                  <a:pt x="9153" y="82378"/>
                </a:lnTo>
                <a:cubicBezTo>
                  <a:pt x="4090" y="82378"/>
                  <a:pt x="0" y="78288"/>
                  <a:pt x="0" y="73225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62" name="Text 60"/>
          <p:cNvSpPr/>
          <p:nvPr/>
        </p:nvSpPr>
        <p:spPr>
          <a:xfrm>
            <a:off x="1352590" y="6528227"/>
            <a:ext cx="49427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960978" y="6558064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15761" y="20995"/>
                </a:moveTo>
                <a:cubicBezTo>
                  <a:pt x="12185" y="17420"/>
                  <a:pt x="6379" y="17420"/>
                  <a:pt x="2803" y="20995"/>
                </a:cubicBezTo>
                <a:cubicBezTo>
                  <a:pt x="-772" y="24570"/>
                  <a:pt x="-772" y="30377"/>
                  <a:pt x="2803" y="33952"/>
                </a:cubicBezTo>
                <a:lnTo>
                  <a:pt x="42105" y="73225"/>
                </a:lnTo>
                <a:lnTo>
                  <a:pt x="2832" y="112527"/>
                </a:lnTo>
                <a:cubicBezTo>
                  <a:pt x="-744" y="116102"/>
                  <a:pt x="-744" y="121909"/>
                  <a:pt x="2832" y="125484"/>
                </a:cubicBezTo>
                <a:cubicBezTo>
                  <a:pt x="6407" y="129059"/>
                  <a:pt x="12214" y="129059"/>
                  <a:pt x="15789" y="125484"/>
                </a:cubicBezTo>
                <a:lnTo>
                  <a:pt x="55062" y="86183"/>
                </a:lnTo>
                <a:lnTo>
                  <a:pt x="94363" y="125455"/>
                </a:lnTo>
                <a:cubicBezTo>
                  <a:pt x="97939" y="129031"/>
                  <a:pt x="103745" y="129031"/>
                  <a:pt x="107321" y="125455"/>
                </a:cubicBezTo>
                <a:cubicBezTo>
                  <a:pt x="110896" y="121880"/>
                  <a:pt x="110896" y="116073"/>
                  <a:pt x="107321" y="112498"/>
                </a:cubicBezTo>
                <a:lnTo>
                  <a:pt x="68019" y="73225"/>
                </a:lnTo>
                <a:lnTo>
                  <a:pt x="107292" y="33924"/>
                </a:lnTo>
                <a:cubicBezTo>
                  <a:pt x="110868" y="30348"/>
                  <a:pt x="110868" y="24542"/>
                  <a:pt x="107292" y="20966"/>
                </a:cubicBezTo>
                <a:cubicBezTo>
                  <a:pt x="103717" y="17391"/>
                  <a:pt x="97910" y="17391"/>
                  <a:pt x="94335" y="20966"/>
                </a:cubicBezTo>
                <a:lnTo>
                  <a:pt x="55062" y="60268"/>
                </a:lnTo>
                <a:lnTo>
                  <a:pt x="15761" y="20995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64" name="Text 62"/>
          <p:cNvSpPr/>
          <p:nvPr/>
        </p:nvSpPr>
        <p:spPr>
          <a:xfrm>
            <a:off x="2107429" y="6528227"/>
            <a:ext cx="448505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75539" y="6125489"/>
            <a:ext cx="3651430" cy="732252"/>
          </a:xfrm>
          <a:custGeom>
            <a:avLst/>
            <a:gdLst/>
            <a:ahLst/>
            <a:cxnLst/>
            <a:rect l="l" t="t" r="r" b="b"/>
            <a:pathLst>
              <a:path w="3651430" h="732252">
                <a:moveTo>
                  <a:pt x="0" y="0"/>
                </a:moveTo>
                <a:lnTo>
                  <a:pt x="3651430" y="0"/>
                </a:lnTo>
                <a:lnTo>
                  <a:pt x="3651430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275539" y="6125489"/>
            <a:ext cx="35257" cy="732252"/>
          </a:xfrm>
          <a:custGeom>
            <a:avLst/>
            <a:gdLst/>
            <a:ahLst/>
            <a:cxnLst/>
            <a:rect l="l" t="t" r="r" b="b"/>
            <a:pathLst>
              <a:path w="35257" h="732252">
                <a:moveTo>
                  <a:pt x="0" y="0"/>
                </a:moveTo>
                <a:lnTo>
                  <a:pt x="35257" y="0"/>
                </a:lnTo>
                <a:lnTo>
                  <a:pt x="35257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7" name="Text 65"/>
          <p:cNvSpPr/>
          <p:nvPr/>
        </p:nvSpPr>
        <p:spPr>
          <a:xfrm>
            <a:off x="4476231" y="6235326"/>
            <a:ext cx="3533117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476231" y="6528227"/>
            <a:ext cx="352396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13ms per second of speech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67325" y="6125489"/>
            <a:ext cx="3651430" cy="732252"/>
          </a:xfrm>
          <a:custGeom>
            <a:avLst/>
            <a:gdLst/>
            <a:ahLst/>
            <a:cxnLst/>
            <a:rect l="l" t="t" r="r" b="b"/>
            <a:pathLst>
              <a:path w="3651430" h="732252">
                <a:moveTo>
                  <a:pt x="0" y="0"/>
                </a:moveTo>
                <a:lnTo>
                  <a:pt x="3651430" y="0"/>
                </a:lnTo>
                <a:lnTo>
                  <a:pt x="3651430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167325" y="6125489"/>
            <a:ext cx="35257" cy="732252"/>
          </a:xfrm>
          <a:custGeom>
            <a:avLst/>
            <a:gdLst/>
            <a:ahLst/>
            <a:cxnLst/>
            <a:rect l="l" t="t" r="r" b="b"/>
            <a:pathLst>
              <a:path w="35257" h="732252">
                <a:moveTo>
                  <a:pt x="0" y="0"/>
                </a:moveTo>
                <a:lnTo>
                  <a:pt x="35257" y="0"/>
                </a:lnTo>
                <a:lnTo>
                  <a:pt x="35257" y="732252"/>
                </a:lnTo>
                <a:lnTo>
                  <a:pt x="0" y="73225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1" name="Text 69"/>
          <p:cNvSpPr/>
          <p:nvPr/>
        </p:nvSpPr>
        <p:spPr>
          <a:xfrm>
            <a:off x="8368016" y="6235326"/>
            <a:ext cx="3533117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68016" y="6528227"/>
            <a:ext cx="3523964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Educators, podcasters, creators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spc="224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95092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&amp;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934" y="1171284"/>
            <a:ext cx="1135790" cy="17747"/>
          </a:xfrm>
          <a:custGeom>
            <a:avLst/>
            <a:gdLst/>
            <a:ahLst/>
            <a:cxnLst/>
            <a:rect l="l" t="t" r="r" b="b"/>
            <a:pathLst>
              <a:path w="1135790" h="17747">
                <a:moveTo>
                  <a:pt x="0" y="0"/>
                </a:moveTo>
                <a:lnTo>
                  <a:pt x="1135790" y="0"/>
                </a:lnTo>
                <a:lnTo>
                  <a:pt x="1135790" y="17747"/>
                </a:lnTo>
                <a:lnTo>
                  <a:pt x="0" y="1774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Shape 3"/>
          <p:cNvSpPr/>
          <p:nvPr/>
        </p:nvSpPr>
        <p:spPr>
          <a:xfrm>
            <a:off x="362822" y="1409879"/>
            <a:ext cx="2722150" cy="1293539"/>
          </a:xfrm>
          <a:custGeom>
            <a:avLst/>
            <a:gdLst/>
            <a:ahLst/>
            <a:cxnLst/>
            <a:rect l="l" t="t" r="r" b="b"/>
            <a:pathLst>
              <a:path w="2722150" h="1293539">
                <a:moveTo>
                  <a:pt x="70989" y="0"/>
                </a:moveTo>
                <a:lnTo>
                  <a:pt x="2651161" y="0"/>
                </a:lnTo>
                <a:cubicBezTo>
                  <a:pt x="2690367" y="0"/>
                  <a:pt x="2722150" y="31783"/>
                  <a:pt x="2722150" y="70989"/>
                </a:cubicBezTo>
                <a:lnTo>
                  <a:pt x="2722150" y="1222550"/>
                </a:lnTo>
                <a:cubicBezTo>
                  <a:pt x="2722150" y="1261756"/>
                  <a:pt x="2690367" y="1293539"/>
                  <a:pt x="2651161" y="1293539"/>
                </a:cubicBezTo>
                <a:lnTo>
                  <a:pt x="70989" y="1293539"/>
                </a:lnTo>
                <a:cubicBezTo>
                  <a:pt x="31783" y="1293539"/>
                  <a:pt x="0" y="1261756"/>
                  <a:pt x="0" y="1222550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8316" y="1595238"/>
            <a:ext cx="251116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246" y="2021160"/>
            <a:ext cx="243130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683" y="2305107"/>
            <a:ext cx="242242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4-6 hours manual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8215" y="1409879"/>
            <a:ext cx="2722150" cy="1293539"/>
          </a:xfrm>
          <a:custGeom>
            <a:avLst/>
            <a:gdLst/>
            <a:ahLst/>
            <a:cxnLst/>
            <a:rect l="l" t="t" r="r" b="b"/>
            <a:pathLst>
              <a:path w="2722150" h="1293539">
                <a:moveTo>
                  <a:pt x="70989" y="0"/>
                </a:moveTo>
                <a:lnTo>
                  <a:pt x="2651161" y="0"/>
                </a:lnTo>
                <a:cubicBezTo>
                  <a:pt x="2690367" y="0"/>
                  <a:pt x="2722150" y="31783"/>
                  <a:pt x="2722150" y="70989"/>
                </a:cubicBezTo>
                <a:lnTo>
                  <a:pt x="2722150" y="1222550"/>
                </a:lnTo>
                <a:cubicBezTo>
                  <a:pt x="2722150" y="1261756"/>
                  <a:pt x="2690367" y="1293539"/>
                  <a:pt x="2651161" y="1293539"/>
                </a:cubicBezTo>
                <a:lnTo>
                  <a:pt x="70989" y="1293539"/>
                </a:lnTo>
                <a:cubicBezTo>
                  <a:pt x="31783" y="1293539"/>
                  <a:pt x="0" y="1261756"/>
                  <a:pt x="0" y="1222550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709" y="1595238"/>
            <a:ext cx="251116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2.5x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3639" y="2021160"/>
            <a:ext cx="243130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Boost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8076" y="2305107"/>
            <a:ext cx="242242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vs. long-form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3607" y="1409879"/>
            <a:ext cx="2722150" cy="1293539"/>
          </a:xfrm>
          <a:custGeom>
            <a:avLst/>
            <a:gdLst/>
            <a:ahLst/>
            <a:cxnLst/>
            <a:rect l="l" t="t" r="r" b="b"/>
            <a:pathLst>
              <a:path w="2722150" h="1293539">
                <a:moveTo>
                  <a:pt x="70989" y="0"/>
                </a:moveTo>
                <a:lnTo>
                  <a:pt x="2651161" y="0"/>
                </a:lnTo>
                <a:cubicBezTo>
                  <a:pt x="2690367" y="0"/>
                  <a:pt x="2722150" y="31783"/>
                  <a:pt x="2722150" y="70989"/>
                </a:cubicBezTo>
                <a:lnTo>
                  <a:pt x="2722150" y="1222550"/>
                </a:lnTo>
                <a:cubicBezTo>
                  <a:pt x="2722150" y="1261756"/>
                  <a:pt x="2690367" y="1293539"/>
                  <a:pt x="2651161" y="1293539"/>
                </a:cubicBezTo>
                <a:lnTo>
                  <a:pt x="70989" y="1293539"/>
                </a:lnTo>
                <a:cubicBezTo>
                  <a:pt x="31783" y="1293539"/>
                  <a:pt x="0" y="1261756"/>
                  <a:pt x="0" y="1222550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9102" y="1595238"/>
            <a:ext cx="251116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9032" y="2021160"/>
            <a:ext cx="243130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Clips per Hour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3468" y="2305107"/>
            <a:ext cx="242242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08999" y="1409879"/>
            <a:ext cx="2722150" cy="1293539"/>
          </a:xfrm>
          <a:custGeom>
            <a:avLst/>
            <a:gdLst/>
            <a:ahLst/>
            <a:cxnLst/>
            <a:rect l="l" t="t" r="r" b="b"/>
            <a:pathLst>
              <a:path w="2722150" h="1293539">
                <a:moveTo>
                  <a:pt x="70989" y="0"/>
                </a:moveTo>
                <a:lnTo>
                  <a:pt x="2651161" y="0"/>
                </a:lnTo>
                <a:cubicBezTo>
                  <a:pt x="2690367" y="0"/>
                  <a:pt x="2722150" y="31783"/>
                  <a:pt x="2722150" y="70989"/>
                </a:cubicBezTo>
                <a:lnTo>
                  <a:pt x="2722150" y="1222550"/>
                </a:lnTo>
                <a:cubicBezTo>
                  <a:pt x="2722150" y="1261756"/>
                  <a:pt x="2690367" y="1293539"/>
                  <a:pt x="2651161" y="1293539"/>
                </a:cubicBezTo>
                <a:lnTo>
                  <a:pt x="70989" y="1293539"/>
                </a:lnTo>
                <a:cubicBezTo>
                  <a:pt x="31783" y="1293539"/>
                  <a:pt x="0" y="1261756"/>
                  <a:pt x="0" y="1222550"/>
                </a:cubicBezTo>
                <a:lnTo>
                  <a:pt x="0" y="70989"/>
                </a:lnTo>
                <a:cubicBezTo>
                  <a:pt x="0" y="31809"/>
                  <a:pt x="31809" y="0"/>
                  <a:pt x="7098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4494" y="1595238"/>
            <a:ext cx="251116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1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4424" y="2021160"/>
            <a:ext cx="243130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8861" y="2305107"/>
            <a:ext cx="242242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Short-form ad spend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822" y="2932154"/>
            <a:ext cx="3671600" cy="3920054"/>
          </a:xfrm>
          <a:custGeom>
            <a:avLst/>
            <a:gdLst/>
            <a:ahLst/>
            <a:cxnLst/>
            <a:rect l="l" t="t" r="r" b="b"/>
            <a:pathLst>
              <a:path w="3671600" h="3920054">
                <a:moveTo>
                  <a:pt x="70972" y="0"/>
                </a:moveTo>
                <a:lnTo>
                  <a:pt x="3600628" y="0"/>
                </a:lnTo>
                <a:cubicBezTo>
                  <a:pt x="3639825" y="0"/>
                  <a:pt x="3671600" y="31775"/>
                  <a:pt x="3671600" y="70972"/>
                </a:cubicBezTo>
                <a:lnTo>
                  <a:pt x="3671600" y="3849082"/>
                </a:lnTo>
                <a:cubicBezTo>
                  <a:pt x="3671600" y="3888279"/>
                  <a:pt x="3639825" y="3920054"/>
                  <a:pt x="3600628" y="3920054"/>
                </a:cubicBezTo>
                <a:lnTo>
                  <a:pt x="70972" y="3920054"/>
                </a:lnTo>
                <a:cubicBezTo>
                  <a:pt x="31775" y="3920054"/>
                  <a:pt x="0" y="3888279"/>
                  <a:pt x="0" y="3849082"/>
                </a:cubicBezTo>
                <a:lnTo>
                  <a:pt x="0" y="70972"/>
                </a:lnTo>
                <a:cubicBezTo>
                  <a:pt x="0" y="31802"/>
                  <a:pt x="31802" y="0"/>
                  <a:pt x="70972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670" y="3153007"/>
            <a:ext cx="3336384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Beta User Feedback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0760" y="3578929"/>
            <a:ext cx="3211500" cy="851843"/>
          </a:xfrm>
          <a:custGeom>
            <a:avLst/>
            <a:gdLst/>
            <a:ahLst/>
            <a:cxnLst/>
            <a:rect l="l" t="t" r="r" b="b"/>
            <a:pathLst>
              <a:path w="3211500" h="851843">
                <a:moveTo>
                  <a:pt x="0" y="0"/>
                </a:moveTo>
                <a:lnTo>
                  <a:pt x="3211500" y="0"/>
                </a:lnTo>
                <a:lnTo>
                  <a:pt x="3211500" y="851843"/>
                </a:lnTo>
                <a:lnTo>
                  <a:pt x="0" y="8518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00760" y="3578929"/>
            <a:ext cx="34179" cy="851843"/>
          </a:xfrm>
          <a:custGeom>
            <a:avLst/>
            <a:gdLst/>
            <a:ahLst/>
            <a:cxnLst/>
            <a:rect l="l" t="t" r="r" b="b"/>
            <a:pathLst>
              <a:path w="34179" h="851843">
                <a:moveTo>
                  <a:pt x="0" y="0"/>
                </a:moveTo>
                <a:lnTo>
                  <a:pt x="34179" y="0"/>
                </a:lnTo>
                <a:lnTo>
                  <a:pt x="34179" y="851843"/>
                </a:lnTo>
                <a:lnTo>
                  <a:pt x="0" y="8518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759823" y="3649916"/>
            <a:ext cx="3123424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"Turned my 2-hour lecture into 12 engaging clips. One went viral with 50K+ views!"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9823" y="4146824"/>
            <a:ext cx="31234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Dr. Sarah Chen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0760" y="4573724"/>
            <a:ext cx="3211500" cy="1064803"/>
          </a:xfrm>
          <a:custGeom>
            <a:avLst/>
            <a:gdLst/>
            <a:ahLst/>
            <a:cxnLst/>
            <a:rect l="l" t="t" r="r" b="b"/>
            <a:pathLst>
              <a:path w="3211500" h="1064803">
                <a:moveTo>
                  <a:pt x="0" y="0"/>
                </a:moveTo>
                <a:lnTo>
                  <a:pt x="3211500" y="0"/>
                </a:lnTo>
                <a:lnTo>
                  <a:pt x="3211500" y="1064803"/>
                </a:lnTo>
                <a:lnTo>
                  <a:pt x="0" y="1064803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0760" y="4573724"/>
            <a:ext cx="34179" cy="1064803"/>
          </a:xfrm>
          <a:custGeom>
            <a:avLst/>
            <a:gdLst/>
            <a:ahLst/>
            <a:cxnLst/>
            <a:rect l="l" t="t" r="r" b="b"/>
            <a:pathLst>
              <a:path w="34179" h="1064803">
                <a:moveTo>
                  <a:pt x="0" y="0"/>
                </a:moveTo>
                <a:lnTo>
                  <a:pt x="34179" y="0"/>
                </a:lnTo>
                <a:lnTo>
                  <a:pt x="34179" y="1064803"/>
                </a:lnTo>
                <a:lnTo>
                  <a:pt x="0" y="106480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759823" y="4644711"/>
            <a:ext cx="3123424" cy="6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emotional detection is scary accurate. It found moments I didn't even realize were impactful."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9823" y="5354580"/>
            <a:ext cx="31234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Marcus Rodriguez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0760" y="5781490"/>
            <a:ext cx="3211500" cy="851843"/>
          </a:xfrm>
          <a:custGeom>
            <a:avLst/>
            <a:gdLst/>
            <a:ahLst/>
            <a:cxnLst/>
            <a:rect l="l" t="t" r="r" b="b"/>
            <a:pathLst>
              <a:path w="3211500" h="851843">
                <a:moveTo>
                  <a:pt x="0" y="0"/>
                </a:moveTo>
                <a:lnTo>
                  <a:pt x="3211500" y="0"/>
                </a:lnTo>
                <a:lnTo>
                  <a:pt x="3211500" y="851843"/>
                </a:lnTo>
                <a:lnTo>
                  <a:pt x="0" y="8518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0760" y="5781490"/>
            <a:ext cx="34179" cy="851843"/>
          </a:xfrm>
          <a:custGeom>
            <a:avLst/>
            <a:gdLst/>
            <a:ahLst/>
            <a:cxnLst/>
            <a:rect l="l" t="t" r="r" b="b"/>
            <a:pathLst>
              <a:path w="34179" h="851843">
                <a:moveTo>
                  <a:pt x="0" y="0"/>
                </a:moveTo>
                <a:lnTo>
                  <a:pt x="34179" y="0"/>
                </a:lnTo>
                <a:lnTo>
                  <a:pt x="34179" y="851843"/>
                </a:lnTo>
                <a:lnTo>
                  <a:pt x="0" y="8518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759823" y="5852476"/>
            <a:ext cx="3123424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"Smart crop preserved all my expressions. Other tools always cut off my forehead!"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9823" y="6349385"/>
            <a:ext cx="312342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Jennifer Park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57899" y="2928211"/>
            <a:ext cx="7576866" cy="3929914"/>
          </a:xfrm>
          <a:custGeom>
            <a:avLst/>
            <a:gdLst/>
            <a:ahLst/>
            <a:cxnLst/>
            <a:rect l="l" t="t" r="r" b="b"/>
            <a:pathLst>
              <a:path w="7576866" h="3929914">
                <a:moveTo>
                  <a:pt x="70974" y="0"/>
                </a:moveTo>
                <a:lnTo>
                  <a:pt x="7505891" y="0"/>
                </a:lnTo>
                <a:cubicBezTo>
                  <a:pt x="7545089" y="0"/>
                  <a:pt x="7576866" y="31776"/>
                  <a:pt x="7576866" y="70974"/>
                </a:cubicBezTo>
                <a:lnTo>
                  <a:pt x="7576866" y="3858939"/>
                </a:lnTo>
                <a:cubicBezTo>
                  <a:pt x="7576866" y="3898137"/>
                  <a:pt x="7545089" y="3929914"/>
                  <a:pt x="7505891" y="3929914"/>
                </a:cubicBezTo>
                <a:lnTo>
                  <a:pt x="70974" y="3929914"/>
                </a:lnTo>
                <a:cubicBezTo>
                  <a:pt x="31776" y="3929914"/>
                  <a:pt x="0" y="3898137"/>
                  <a:pt x="0" y="3858939"/>
                </a:cubicBezTo>
                <a:lnTo>
                  <a:pt x="0" y="70974"/>
                </a:lnTo>
                <a:cubicBezTo>
                  <a:pt x="0" y="31802"/>
                  <a:pt x="31802" y="0"/>
                  <a:pt x="70974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4804" y="3145113"/>
            <a:ext cx="7249537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Projections</a:t>
            </a:r>
            <a:endParaRPr lang="en-US" sz="1600" dirty="0"/>
          </a:p>
        </p:txBody>
      </p:sp>
      <p:pic>
        <p:nvPicPr>
          <p:cNvPr id="37" name="Image 0" descr="https://kimi-img.moonshot.cn/pub/slides/26-01-17-17:06:00-d5ll1u543351hnq4h0jg.png">    </p:cNvPr>
          <p:cNvPicPr>
            <a:picLocks noChangeAspect="1"/>
          </p:cNvPicPr>
          <p:nvPr/>
        </p:nvPicPr>
        <p:blipFill>
          <a:blip r:embed="rId1"/>
          <a:srcRect l="27" r="27" t="0" b="0"/>
          <a:stretch/>
        </p:blipFill>
        <p:spPr>
          <a:xfrm>
            <a:off x="4474804" y="3571034"/>
            <a:ext cx="6584035" cy="3070183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Vision</a:t>
            </a:r>
            <a:pPr>
              <a:lnSpc>
                <a:spcPct val="130000"/>
              </a:lnSpc>
            </a:pPr>
            <a:r>
              <a:rPr lang="en-US" sz="30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Roadmap &amp; Beyond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4556" y="1451681"/>
            <a:ext cx="8300861" cy="1665111"/>
          </a:xfrm>
          <a:custGeom>
            <a:avLst/>
            <a:gdLst/>
            <a:ahLst/>
            <a:cxnLst/>
            <a:rect l="l" t="t" r="r" b="b"/>
            <a:pathLst>
              <a:path w="8300861" h="1665111">
                <a:moveTo>
                  <a:pt x="63507" y="0"/>
                </a:moveTo>
                <a:lnTo>
                  <a:pt x="8237354" y="0"/>
                </a:lnTo>
                <a:cubicBezTo>
                  <a:pt x="8272428" y="0"/>
                  <a:pt x="8300861" y="28433"/>
                  <a:pt x="8300861" y="63507"/>
                </a:cubicBezTo>
                <a:lnTo>
                  <a:pt x="8300861" y="1601604"/>
                </a:lnTo>
                <a:cubicBezTo>
                  <a:pt x="8300861" y="1636678"/>
                  <a:pt x="8272428" y="1665111"/>
                  <a:pt x="8237354" y="1665111"/>
                </a:cubicBezTo>
                <a:lnTo>
                  <a:pt x="63507" y="1665111"/>
                </a:lnTo>
                <a:cubicBezTo>
                  <a:pt x="28433" y="1665111"/>
                  <a:pt x="0" y="1636678"/>
                  <a:pt x="0" y="1601604"/>
                </a:cubicBezTo>
                <a:lnTo>
                  <a:pt x="0" y="63507"/>
                </a:lnTo>
                <a:cubicBezTo>
                  <a:pt x="0" y="28433"/>
                  <a:pt x="28433" y="0"/>
                  <a:pt x="6350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2111" y="164923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474486" y="1649233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1131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3611" y="1649233"/>
            <a:ext cx="1603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(Hackathon)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3611" y="190323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2025 • 2-3 months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5924" y="225248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744361" y="2220733"/>
            <a:ext cx="432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Multimodal peak detection, smart cropping, caption generation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5924" y="250648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744361" y="2474733"/>
            <a:ext cx="340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backend, React frontend, basic AI models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5924" y="276048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744361" y="2728733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Working MVP with 10 beta users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556" y="3321404"/>
            <a:ext cx="8300861" cy="1665111"/>
          </a:xfrm>
          <a:custGeom>
            <a:avLst/>
            <a:gdLst/>
            <a:ahLst/>
            <a:cxnLst/>
            <a:rect l="l" t="t" r="r" b="b"/>
            <a:pathLst>
              <a:path w="8300861" h="1665111">
                <a:moveTo>
                  <a:pt x="63507" y="0"/>
                </a:moveTo>
                <a:lnTo>
                  <a:pt x="8237354" y="0"/>
                </a:lnTo>
                <a:cubicBezTo>
                  <a:pt x="8272428" y="0"/>
                  <a:pt x="8300861" y="28433"/>
                  <a:pt x="8300861" y="63507"/>
                </a:cubicBezTo>
                <a:lnTo>
                  <a:pt x="8300861" y="1601604"/>
                </a:lnTo>
                <a:cubicBezTo>
                  <a:pt x="8300861" y="1636678"/>
                  <a:pt x="8272428" y="1665111"/>
                  <a:pt x="8237354" y="1665111"/>
                </a:cubicBezTo>
                <a:lnTo>
                  <a:pt x="63507" y="1665111"/>
                </a:lnTo>
                <a:cubicBezTo>
                  <a:pt x="28433" y="1665111"/>
                  <a:pt x="0" y="1636678"/>
                  <a:pt x="0" y="1601604"/>
                </a:cubicBezTo>
                <a:lnTo>
                  <a:pt x="0" y="63507"/>
                </a:lnTo>
                <a:cubicBezTo>
                  <a:pt x="0" y="28433"/>
                  <a:pt x="28433" y="0"/>
                  <a:pt x="63507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167" y="3526011"/>
            <a:ext cx="426861" cy="426861"/>
          </a:xfrm>
          <a:custGeom>
            <a:avLst/>
            <a:gdLst/>
            <a:ahLst/>
            <a:cxnLst/>
            <a:rect l="l" t="t" r="r" b="b"/>
            <a:pathLst>
              <a:path w="426861" h="426861">
                <a:moveTo>
                  <a:pt x="213431" y="0"/>
                </a:moveTo>
                <a:lnTo>
                  <a:pt x="213431" y="0"/>
                </a:lnTo>
                <a:cubicBezTo>
                  <a:pt x="331226" y="0"/>
                  <a:pt x="426861" y="95635"/>
                  <a:pt x="426861" y="213431"/>
                </a:cubicBezTo>
                <a:lnTo>
                  <a:pt x="426861" y="213431"/>
                </a:lnTo>
                <a:cubicBezTo>
                  <a:pt x="426861" y="331226"/>
                  <a:pt x="331226" y="426861"/>
                  <a:pt x="213431" y="426861"/>
                </a:cubicBezTo>
                <a:lnTo>
                  <a:pt x="213431" y="426861"/>
                </a:lnTo>
                <a:cubicBezTo>
                  <a:pt x="95635" y="426861"/>
                  <a:pt x="0" y="331226"/>
                  <a:pt x="0" y="213431"/>
                </a:cubicBezTo>
                <a:lnTo>
                  <a:pt x="0" y="213431"/>
                </a:lnTo>
                <a:cubicBezTo>
                  <a:pt x="0" y="95635"/>
                  <a:pt x="95635" y="0"/>
                  <a:pt x="21343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486" y="3518956"/>
            <a:ext cx="50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3611" y="3518956"/>
            <a:ext cx="1539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1.0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3611" y="3772956"/>
            <a:ext cx="150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Q2-Q3 2025 • 4-6 months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5924" y="412220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744361" y="4090456"/>
            <a:ext cx="286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Live analysis &amp; batch upload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5924" y="437620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61" y="4344456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Integrations: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 posting to TikTok, Reels, Shorts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5924" y="4630206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744361" y="4598456"/>
            <a:ext cx="299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Dashboard: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tracking &amp; insights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4556" y="5191127"/>
            <a:ext cx="8300861" cy="1665111"/>
          </a:xfrm>
          <a:custGeom>
            <a:avLst/>
            <a:gdLst/>
            <a:ahLst/>
            <a:cxnLst/>
            <a:rect l="l" t="t" r="r" b="b"/>
            <a:pathLst>
              <a:path w="8300861" h="1665111">
                <a:moveTo>
                  <a:pt x="63507" y="0"/>
                </a:moveTo>
                <a:lnTo>
                  <a:pt x="8237354" y="0"/>
                </a:lnTo>
                <a:cubicBezTo>
                  <a:pt x="8272428" y="0"/>
                  <a:pt x="8300861" y="28433"/>
                  <a:pt x="8300861" y="63507"/>
                </a:cubicBezTo>
                <a:lnTo>
                  <a:pt x="8300861" y="1601604"/>
                </a:lnTo>
                <a:cubicBezTo>
                  <a:pt x="8300861" y="1636678"/>
                  <a:pt x="8272428" y="1665111"/>
                  <a:pt x="8237354" y="1665111"/>
                </a:cubicBezTo>
                <a:lnTo>
                  <a:pt x="63507" y="1665111"/>
                </a:lnTo>
                <a:cubicBezTo>
                  <a:pt x="28433" y="1665111"/>
                  <a:pt x="0" y="1636678"/>
                  <a:pt x="0" y="1601604"/>
                </a:cubicBezTo>
                <a:lnTo>
                  <a:pt x="0" y="63507"/>
                </a:lnTo>
                <a:cubicBezTo>
                  <a:pt x="0" y="28433"/>
                  <a:pt x="28433" y="0"/>
                  <a:pt x="63507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8A8F9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9167" y="5395734"/>
            <a:ext cx="426861" cy="426861"/>
          </a:xfrm>
          <a:custGeom>
            <a:avLst/>
            <a:gdLst/>
            <a:ahLst/>
            <a:cxnLst/>
            <a:rect l="l" t="t" r="r" b="b"/>
            <a:pathLst>
              <a:path w="426861" h="426861">
                <a:moveTo>
                  <a:pt x="213431" y="0"/>
                </a:moveTo>
                <a:lnTo>
                  <a:pt x="213431" y="0"/>
                </a:lnTo>
                <a:cubicBezTo>
                  <a:pt x="331226" y="0"/>
                  <a:pt x="426861" y="95635"/>
                  <a:pt x="426861" y="213431"/>
                </a:cubicBezTo>
                <a:lnTo>
                  <a:pt x="426861" y="213431"/>
                </a:lnTo>
                <a:cubicBezTo>
                  <a:pt x="426861" y="331226"/>
                  <a:pt x="331226" y="426861"/>
                  <a:pt x="213431" y="426861"/>
                </a:cubicBezTo>
                <a:lnTo>
                  <a:pt x="213431" y="426861"/>
                </a:lnTo>
                <a:cubicBezTo>
                  <a:pt x="95635" y="426861"/>
                  <a:pt x="0" y="331226"/>
                  <a:pt x="0" y="213431"/>
                </a:cubicBezTo>
                <a:lnTo>
                  <a:pt x="0" y="213431"/>
                </a:lnTo>
                <a:cubicBezTo>
                  <a:pt x="0" y="95635"/>
                  <a:pt x="95635" y="0"/>
                  <a:pt x="213431" y="0"/>
                </a:cubicBezTo>
                <a:close/>
              </a:path>
            </a:pathLst>
          </a:custGeom>
          <a:solidFill>
            <a:srgbClr val="8A8F98">
              <a:alpha val="20000"/>
            </a:srgbClr>
          </a:solidFill>
          <a:ln w="22578">
            <a:solidFill>
              <a:srgbClr val="8A8F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486" y="5388679"/>
            <a:ext cx="508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3611" y="5388679"/>
            <a:ext cx="1833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2.0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3611" y="5642679"/>
            <a:ext cx="180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2025-Q1 2026 • 6-9 months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5924" y="599192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1" name="Text 29"/>
          <p:cNvSpPr/>
          <p:nvPr/>
        </p:nvSpPr>
        <p:spPr>
          <a:xfrm>
            <a:off x="744361" y="5960179"/>
            <a:ext cx="306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AI Models: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Trained on user's content style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5924" y="624592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3" name="Text 31"/>
          <p:cNvSpPr/>
          <p:nvPr/>
        </p:nvSpPr>
        <p:spPr>
          <a:xfrm>
            <a:off x="744361" y="6214179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 Testing: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hook/thumbnail optimization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5924" y="649992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5" name="Text 33"/>
          <p:cNvSpPr/>
          <p:nvPr/>
        </p:nvSpPr>
        <p:spPr>
          <a:xfrm>
            <a:off x="744361" y="6468179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Collaboration: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Multi-user workspaces &amp; approvals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833556" y="1451681"/>
            <a:ext cx="3030361" cy="4736924"/>
          </a:xfrm>
          <a:custGeom>
            <a:avLst/>
            <a:gdLst/>
            <a:ahLst/>
            <a:cxnLst/>
            <a:rect l="l" t="t" r="r" b="b"/>
            <a:pathLst>
              <a:path w="3030361" h="4736924">
                <a:moveTo>
                  <a:pt x="63486" y="0"/>
                </a:moveTo>
                <a:lnTo>
                  <a:pt x="2966875" y="0"/>
                </a:lnTo>
                <a:cubicBezTo>
                  <a:pt x="3001937" y="0"/>
                  <a:pt x="3030361" y="28424"/>
                  <a:pt x="3030361" y="63486"/>
                </a:cubicBezTo>
                <a:lnTo>
                  <a:pt x="3030361" y="4673438"/>
                </a:lnTo>
                <a:cubicBezTo>
                  <a:pt x="3030361" y="4708500"/>
                  <a:pt x="3001937" y="4736924"/>
                  <a:pt x="2966875" y="4736924"/>
                </a:cubicBezTo>
                <a:lnTo>
                  <a:pt x="63486" y="4736924"/>
                </a:lnTo>
                <a:cubicBezTo>
                  <a:pt x="28424" y="4736924"/>
                  <a:pt x="0" y="4708500"/>
                  <a:pt x="0" y="4673438"/>
                </a:cubicBezTo>
                <a:lnTo>
                  <a:pt x="0" y="63486"/>
                </a:lnTo>
                <a:cubicBezTo>
                  <a:pt x="0" y="28424"/>
                  <a:pt x="28424" y="0"/>
                  <a:pt x="6348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31112" y="1649233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46399" y="2030233"/>
            <a:ext cx="2626725" cy="762000"/>
          </a:xfrm>
          <a:custGeom>
            <a:avLst/>
            <a:gdLst/>
            <a:ahLst/>
            <a:cxnLst/>
            <a:rect l="l" t="t" r="r" b="b"/>
            <a:pathLst>
              <a:path w="2626725" h="762000">
                <a:moveTo>
                  <a:pt x="0" y="0"/>
                </a:moveTo>
                <a:lnTo>
                  <a:pt x="2626725" y="0"/>
                </a:lnTo>
                <a:lnTo>
                  <a:pt x="26267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046399" y="2030233"/>
            <a:ext cx="30574" cy="762000"/>
          </a:xfrm>
          <a:custGeom>
            <a:avLst/>
            <a:gdLst/>
            <a:ahLst/>
            <a:cxnLst/>
            <a:rect l="l" t="t" r="r" b="b"/>
            <a:pathLst>
              <a:path w="30574" h="762000">
                <a:moveTo>
                  <a:pt x="0" y="0"/>
                </a:moveTo>
                <a:lnTo>
                  <a:pt x="30574" y="0"/>
                </a:lnTo>
                <a:lnTo>
                  <a:pt x="3057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9188685" y="2093733"/>
            <a:ext cx="255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Streaming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88685" y="2347733"/>
            <a:ext cx="2547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clip extraction during live broadcasts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46399" y="2919233"/>
            <a:ext cx="2626725" cy="571500"/>
          </a:xfrm>
          <a:custGeom>
            <a:avLst/>
            <a:gdLst/>
            <a:ahLst/>
            <a:cxnLst/>
            <a:rect l="l" t="t" r="r" b="b"/>
            <a:pathLst>
              <a:path w="2626725" h="571500">
                <a:moveTo>
                  <a:pt x="0" y="0"/>
                </a:moveTo>
                <a:lnTo>
                  <a:pt x="2626725" y="0"/>
                </a:lnTo>
                <a:lnTo>
                  <a:pt x="26267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046399" y="2919233"/>
            <a:ext cx="30574" cy="571500"/>
          </a:xfrm>
          <a:custGeom>
            <a:avLst/>
            <a:gdLst/>
            <a:ahLst/>
            <a:cxnLst/>
            <a:rect l="l" t="t" r="r" b="b"/>
            <a:pathLst>
              <a:path w="30574" h="571500">
                <a:moveTo>
                  <a:pt x="0" y="0"/>
                </a:moveTo>
                <a:lnTo>
                  <a:pt x="30574" y="0"/>
                </a:lnTo>
                <a:lnTo>
                  <a:pt x="305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Text 42"/>
          <p:cNvSpPr/>
          <p:nvPr/>
        </p:nvSpPr>
        <p:spPr>
          <a:xfrm>
            <a:off x="9188685" y="2982733"/>
            <a:ext cx="255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Licensing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88685" y="3236733"/>
            <a:ext cx="254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Universities, corporations, content agencies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6399" y="3617733"/>
            <a:ext cx="2626725" cy="571500"/>
          </a:xfrm>
          <a:custGeom>
            <a:avLst/>
            <a:gdLst/>
            <a:ahLst/>
            <a:cxnLst/>
            <a:rect l="l" t="t" r="r" b="b"/>
            <a:pathLst>
              <a:path w="2626725" h="571500">
                <a:moveTo>
                  <a:pt x="0" y="0"/>
                </a:moveTo>
                <a:lnTo>
                  <a:pt x="2626725" y="0"/>
                </a:lnTo>
                <a:lnTo>
                  <a:pt x="26267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046399" y="3617733"/>
            <a:ext cx="30574" cy="571500"/>
          </a:xfrm>
          <a:custGeom>
            <a:avLst/>
            <a:gdLst/>
            <a:ahLst/>
            <a:cxnLst/>
            <a:rect l="l" t="t" r="r" b="b"/>
            <a:pathLst>
              <a:path w="30574" h="571500">
                <a:moveTo>
                  <a:pt x="0" y="0"/>
                </a:moveTo>
                <a:lnTo>
                  <a:pt x="30574" y="0"/>
                </a:lnTo>
                <a:lnTo>
                  <a:pt x="305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9188685" y="3681233"/>
            <a:ext cx="255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 Coach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88685" y="3935233"/>
            <a:ext cx="254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suggestions for better moments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46399" y="4316233"/>
            <a:ext cx="2626725" cy="571500"/>
          </a:xfrm>
          <a:custGeom>
            <a:avLst/>
            <a:gdLst/>
            <a:ahLst/>
            <a:cxnLst/>
            <a:rect l="l" t="t" r="r" b="b"/>
            <a:pathLst>
              <a:path w="2626725" h="571500">
                <a:moveTo>
                  <a:pt x="0" y="0"/>
                </a:moveTo>
                <a:lnTo>
                  <a:pt x="2626725" y="0"/>
                </a:lnTo>
                <a:lnTo>
                  <a:pt x="26267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46399" y="4316233"/>
            <a:ext cx="30574" cy="571500"/>
          </a:xfrm>
          <a:custGeom>
            <a:avLst/>
            <a:gdLst/>
            <a:ahLst/>
            <a:cxnLst/>
            <a:rect l="l" t="t" r="r" b="b"/>
            <a:pathLst>
              <a:path w="30574" h="571500">
                <a:moveTo>
                  <a:pt x="0" y="0"/>
                </a:moveTo>
                <a:lnTo>
                  <a:pt x="30574" y="0"/>
                </a:lnTo>
                <a:lnTo>
                  <a:pt x="305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9188685" y="4379733"/>
            <a:ext cx="255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Expansion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88685" y="4633733"/>
            <a:ext cx="254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 support &amp; cultural adaptation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833556" y="6395495"/>
            <a:ext cx="3030361" cy="1823861"/>
          </a:xfrm>
          <a:custGeom>
            <a:avLst/>
            <a:gdLst/>
            <a:ahLst/>
            <a:cxnLst/>
            <a:rect l="l" t="t" r="r" b="b"/>
            <a:pathLst>
              <a:path w="3030361" h="1823861">
                <a:moveTo>
                  <a:pt x="63507" y="0"/>
                </a:moveTo>
                <a:lnTo>
                  <a:pt x="2966854" y="0"/>
                </a:lnTo>
                <a:cubicBezTo>
                  <a:pt x="3001928" y="0"/>
                  <a:pt x="3030361" y="28433"/>
                  <a:pt x="3030361" y="63507"/>
                </a:cubicBezTo>
                <a:lnTo>
                  <a:pt x="3030361" y="1760354"/>
                </a:lnTo>
                <a:cubicBezTo>
                  <a:pt x="3030361" y="1795428"/>
                  <a:pt x="3001928" y="1823861"/>
                  <a:pt x="2966854" y="1823861"/>
                </a:cubicBezTo>
                <a:lnTo>
                  <a:pt x="63507" y="1823861"/>
                </a:lnTo>
                <a:cubicBezTo>
                  <a:pt x="28433" y="1823861"/>
                  <a:pt x="0" y="1795428"/>
                  <a:pt x="0" y="1760354"/>
                </a:cubicBezTo>
                <a:lnTo>
                  <a:pt x="0" y="63507"/>
                </a:lnTo>
                <a:cubicBezTo>
                  <a:pt x="0" y="28456"/>
                  <a:pt x="28456" y="0"/>
                  <a:pt x="63507" y="0"/>
                </a:cubicBezTo>
                <a:close/>
              </a:path>
            </a:pathLst>
          </a:custGeom>
          <a:solidFill>
            <a:srgbClr val="111317"/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31112" y="6593047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31112" y="6974047"/>
            <a:ext cx="57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Months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28275" y="6974047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users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34639" y="7199825"/>
            <a:ext cx="2634368" cy="54681"/>
          </a:xfrm>
          <a:custGeom>
            <a:avLst/>
            <a:gdLst/>
            <a:ahLst/>
            <a:cxnLst/>
            <a:rect l="l" t="t" r="r" b="b"/>
            <a:pathLst>
              <a:path w="2634368" h="54681">
                <a:moveTo>
                  <a:pt x="27340" y="0"/>
                </a:moveTo>
                <a:lnTo>
                  <a:pt x="2607028" y="0"/>
                </a:lnTo>
                <a:cubicBezTo>
                  <a:pt x="2622127" y="0"/>
                  <a:pt x="2634368" y="12241"/>
                  <a:pt x="2634368" y="27340"/>
                </a:cubicBezTo>
                <a:lnTo>
                  <a:pt x="2634368" y="27340"/>
                </a:lnTo>
                <a:cubicBezTo>
                  <a:pt x="2634368" y="42440"/>
                  <a:pt x="2622127" y="54681"/>
                  <a:pt x="2607028" y="54681"/>
                </a:cubicBezTo>
                <a:lnTo>
                  <a:pt x="27340" y="54681"/>
                </a:lnTo>
                <a:cubicBezTo>
                  <a:pt x="12251" y="54681"/>
                  <a:pt x="0" y="42430"/>
                  <a:pt x="0" y="27340"/>
                </a:cubicBezTo>
                <a:lnTo>
                  <a:pt x="0" y="27340"/>
                </a:lnTo>
                <a:cubicBezTo>
                  <a:pt x="0" y="12251"/>
                  <a:pt x="12251" y="0"/>
                  <a:pt x="27340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38166" y="7203351"/>
            <a:ext cx="261937" cy="63500"/>
          </a:xfrm>
          <a:custGeom>
            <a:avLst/>
            <a:gdLst/>
            <a:ahLst/>
            <a:cxnLst/>
            <a:rect l="l" t="t" r="r" b="b"/>
            <a:pathLst>
              <a:path w="261937" h="63500">
                <a:moveTo>
                  <a:pt x="31750" y="0"/>
                </a:moveTo>
                <a:lnTo>
                  <a:pt x="230188" y="0"/>
                </a:lnTo>
                <a:cubicBezTo>
                  <a:pt x="247711" y="0"/>
                  <a:pt x="261937" y="14227"/>
                  <a:pt x="261937" y="31750"/>
                </a:cubicBezTo>
                <a:lnTo>
                  <a:pt x="261937" y="31750"/>
                </a:lnTo>
                <a:cubicBezTo>
                  <a:pt x="261937" y="49273"/>
                  <a:pt x="247711" y="63500"/>
                  <a:pt x="23018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9031112" y="7355047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Months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45849" y="7355047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 users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34639" y="7580825"/>
            <a:ext cx="2634368" cy="54681"/>
          </a:xfrm>
          <a:custGeom>
            <a:avLst/>
            <a:gdLst/>
            <a:ahLst/>
            <a:cxnLst/>
            <a:rect l="l" t="t" r="r" b="b"/>
            <a:pathLst>
              <a:path w="2634368" h="54681">
                <a:moveTo>
                  <a:pt x="27340" y="0"/>
                </a:moveTo>
                <a:lnTo>
                  <a:pt x="2607028" y="0"/>
                </a:lnTo>
                <a:cubicBezTo>
                  <a:pt x="2622127" y="0"/>
                  <a:pt x="2634368" y="12241"/>
                  <a:pt x="2634368" y="27340"/>
                </a:cubicBezTo>
                <a:lnTo>
                  <a:pt x="2634368" y="27340"/>
                </a:lnTo>
                <a:cubicBezTo>
                  <a:pt x="2634368" y="42440"/>
                  <a:pt x="2622127" y="54681"/>
                  <a:pt x="2607028" y="54681"/>
                </a:cubicBezTo>
                <a:lnTo>
                  <a:pt x="27340" y="54681"/>
                </a:lnTo>
                <a:cubicBezTo>
                  <a:pt x="12251" y="54681"/>
                  <a:pt x="0" y="42430"/>
                  <a:pt x="0" y="27340"/>
                </a:cubicBezTo>
                <a:lnTo>
                  <a:pt x="0" y="27340"/>
                </a:lnTo>
                <a:cubicBezTo>
                  <a:pt x="0" y="12251"/>
                  <a:pt x="12251" y="0"/>
                  <a:pt x="27340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38166" y="7584351"/>
            <a:ext cx="134938" cy="63500"/>
          </a:xfrm>
          <a:custGeom>
            <a:avLst/>
            <a:gdLst/>
            <a:ahLst/>
            <a:cxnLst/>
            <a:rect l="l" t="t" r="r" b="b"/>
            <a:pathLst>
              <a:path w="134938" h="63500">
                <a:moveTo>
                  <a:pt x="31750" y="0"/>
                </a:moveTo>
                <a:lnTo>
                  <a:pt x="103188" y="0"/>
                </a:lnTo>
                <a:cubicBezTo>
                  <a:pt x="120711" y="0"/>
                  <a:pt x="134938" y="14227"/>
                  <a:pt x="134938" y="31750"/>
                </a:cubicBezTo>
                <a:lnTo>
                  <a:pt x="134938" y="31750"/>
                </a:lnTo>
                <a:cubicBezTo>
                  <a:pt x="134938" y="49273"/>
                  <a:pt x="120711" y="63500"/>
                  <a:pt x="10318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4" name="Text 62"/>
          <p:cNvSpPr/>
          <p:nvPr/>
        </p:nvSpPr>
        <p:spPr>
          <a:xfrm>
            <a:off x="9031112" y="7736047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Months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917774" y="7736047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 users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34639" y="7961825"/>
            <a:ext cx="2634368" cy="54681"/>
          </a:xfrm>
          <a:custGeom>
            <a:avLst/>
            <a:gdLst/>
            <a:ahLst/>
            <a:cxnLst/>
            <a:rect l="l" t="t" r="r" b="b"/>
            <a:pathLst>
              <a:path w="2634368" h="54681">
                <a:moveTo>
                  <a:pt x="27340" y="0"/>
                </a:moveTo>
                <a:lnTo>
                  <a:pt x="2607028" y="0"/>
                </a:lnTo>
                <a:cubicBezTo>
                  <a:pt x="2622127" y="0"/>
                  <a:pt x="2634368" y="12241"/>
                  <a:pt x="2634368" y="27340"/>
                </a:cubicBezTo>
                <a:lnTo>
                  <a:pt x="2634368" y="27340"/>
                </a:lnTo>
                <a:cubicBezTo>
                  <a:pt x="2634368" y="42440"/>
                  <a:pt x="2622127" y="54681"/>
                  <a:pt x="2607028" y="54681"/>
                </a:cubicBezTo>
                <a:lnTo>
                  <a:pt x="27340" y="54681"/>
                </a:lnTo>
                <a:cubicBezTo>
                  <a:pt x="12251" y="54681"/>
                  <a:pt x="0" y="42430"/>
                  <a:pt x="0" y="27340"/>
                </a:cubicBezTo>
                <a:lnTo>
                  <a:pt x="0" y="27340"/>
                </a:lnTo>
                <a:cubicBezTo>
                  <a:pt x="0" y="12251"/>
                  <a:pt x="12251" y="0"/>
                  <a:pt x="27340" y="0"/>
                </a:cubicBezTo>
                <a:close/>
              </a:path>
            </a:pathLst>
          </a:custGeom>
          <a:solidFill>
            <a:srgbClr val="111317"/>
          </a:solidFill>
          <a:ln w="11289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38166" y="7965351"/>
            <a:ext cx="55563" cy="63500"/>
          </a:xfrm>
          <a:custGeom>
            <a:avLst/>
            <a:gdLst/>
            <a:ahLst/>
            <a:cxnLst/>
            <a:rect l="l" t="t" r="r" b="b"/>
            <a:pathLst>
              <a:path w="55563" h="63500">
                <a:moveTo>
                  <a:pt x="27781" y="0"/>
                </a:moveTo>
                <a:lnTo>
                  <a:pt x="27781" y="0"/>
                </a:lnTo>
                <a:cubicBezTo>
                  <a:pt x="43114" y="0"/>
                  <a:pt x="55563" y="12448"/>
                  <a:pt x="55563" y="27781"/>
                </a:cubicBezTo>
                <a:lnTo>
                  <a:pt x="55563" y="35719"/>
                </a:lnTo>
                <a:cubicBezTo>
                  <a:pt x="55563" y="51052"/>
                  <a:pt x="43114" y="63500"/>
                  <a:pt x="27781" y="63500"/>
                </a:cubicBezTo>
                <a:lnTo>
                  <a:pt x="27781" y="63500"/>
                </a:lnTo>
                <a:cubicBezTo>
                  <a:pt x="12448" y="63500"/>
                  <a:pt x="0" y="51052"/>
                  <a:pt x="0" y="35719"/>
                </a:cubicBezTo>
                <a:lnTo>
                  <a:pt x="0" y="27781"/>
                </a:lnTo>
                <a:cubicBezTo>
                  <a:pt x="0" y="12448"/>
                  <a:pt x="12448" y="0"/>
                  <a:pt x="2778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22153b74846bbf52d508f6a94600b53cef0004a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998" r="2998" t="0" b="0"/>
          <a:stretch/>
        </p:blipFill>
        <p:spPr>
          <a:xfrm>
            <a:off x="0" y="0"/>
            <a:ext cx="12192000" cy="72955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295507"/>
          </a:xfrm>
          <a:custGeom>
            <a:avLst/>
            <a:gdLst/>
            <a:ahLst/>
            <a:cxnLst/>
            <a:rect l="l" t="t" r="r" b="b"/>
            <a:pathLst>
              <a:path w="12192000" h="7295507">
                <a:moveTo>
                  <a:pt x="0" y="0"/>
                </a:moveTo>
                <a:lnTo>
                  <a:pt x="12192000" y="0"/>
                </a:lnTo>
                <a:lnTo>
                  <a:pt x="12192000" y="7295507"/>
                </a:lnTo>
                <a:lnTo>
                  <a:pt x="0" y="729550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317">
                  <a:alpha val="95000"/>
                </a:srgbClr>
              </a:gs>
              <a:gs pos="50000">
                <a:srgbClr val="111317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467058" y="10403"/>
            <a:ext cx="925589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spc="423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Educational Content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96979" y="475883"/>
            <a:ext cx="9596053" cy="859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76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Making Wisdom </a:t>
            </a:r>
            <a:pPr algn="ctr">
              <a:lnSpc>
                <a:spcPct val="80000"/>
              </a:lnSpc>
            </a:pPr>
            <a:r>
              <a:rPr lang="en-US" sz="6767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Viral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49208" y="1621680"/>
            <a:ext cx="2291595" cy="17903"/>
          </a:xfrm>
          <a:custGeom>
            <a:avLst/>
            <a:gdLst/>
            <a:ahLst/>
            <a:cxnLst/>
            <a:rect l="l" t="t" r="r" b="b"/>
            <a:pathLst>
              <a:path w="2291595" h="17903">
                <a:moveTo>
                  <a:pt x="0" y="0"/>
                </a:moveTo>
                <a:lnTo>
                  <a:pt x="2291595" y="0"/>
                </a:lnTo>
                <a:lnTo>
                  <a:pt x="2291595" y="17903"/>
                </a:lnTo>
                <a:lnTo>
                  <a:pt x="0" y="1790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1444679" y="1926033"/>
            <a:ext cx="9300652" cy="877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115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 bridges the gap between </a:t>
            </a:r>
            <a:pPr algn="ctr">
              <a:lnSpc>
                <a:spcPct val="140000"/>
              </a:lnSpc>
            </a:pPr>
            <a:r>
              <a:rPr lang="en-US" sz="2115" b="1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knowledge</a:t>
            </a:r>
            <a:pPr algn="ctr">
              <a:lnSpc>
                <a:spcPct val="140000"/>
              </a:lnSpc>
            </a:pPr>
            <a:r>
              <a:rPr lang="en-US" sz="2115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2115" b="1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consumption habits</a:t>
            </a:r>
            <a:pPr algn="ctr">
              <a:lnSpc>
                <a:spcPct val="140000"/>
              </a:lnSpc>
            </a:pPr>
            <a:r>
              <a:rPr lang="en-US" sz="2115" dirty="0">
                <a:solidFill>
                  <a:srgbClr val="F4F4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58107" y="3013645"/>
            <a:ext cx="9273797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9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don't just clip videos—we extract the </a:t>
            </a:r>
            <a:pPr algn="ctr">
              <a:lnSpc>
                <a:spcPct val="140000"/>
              </a:lnSpc>
            </a:pPr>
            <a:r>
              <a:rPr lang="en-US" sz="1692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core</a:t>
            </a:r>
            <a:pPr algn="ctr">
              <a:lnSpc>
                <a:spcPct val="140000"/>
              </a:lnSpc>
            </a:pPr>
            <a:r>
              <a:rPr lang="en-US" sz="1692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moments that move people, the insights that change minds.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19773" y="4221109"/>
            <a:ext cx="2844601" cy="1698804"/>
          </a:xfrm>
          <a:custGeom>
            <a:avLst/>
            <a:gdLst/>
            <a:ahLst/>
            <a:cxnLst/>
            <a:rect l="l" t="t" r="r" b="b"/>
            <a:pathLst>
              <a:path w="2844601" h="1698804">
                <a:moveTo>
                  <a:pt x="71605" y="0"/>
                </a:moveTo>
                <a:lnTo>
                  <a:pt x="2772997" y="0"/>
                </a:lnTo>
                <a:cubicBezTo>
                  <a:pt x="2812543" y="0"/>
                  <a:pt x="2844601" y="32058"/>
                  <a:pt x="2844601" y="71605"/>
                </a:cubicBezTo>
                <a:lnTo>
                  <a:pt x="2844601" y="1627199"/>
                </a:lnTo>
                <a:cubicBezTo>
                  <a:pt x="2844601" y="1666745"/>
                  <a:pt x="2812543" y="1698804"/>
                  <a:pt x="2772997" y="1698804"/>
                </a:cubicBezTo>
                <a:lnTo>
                  <a:pt x="71605" y="1698804"/>
                </a:lnTo>
                <a:cubicBezTo>
                  <a:pt x="32058" y="1698804"/>
                  <a:pt x="0" y="1666745"/>
                  <a:pt x="0" y="1627199"/>
                </a:cubicBezTo>
                <a:lnTo>
                  <a:pt x="0" y="71605"/>
                </a:lnTo>
                <a:cubicBezTo>
                  <a:pt x="0" y="32058"/>
                  <a:pt x="32058" y="0"/>
                  <a:pt x="71605" y="0"/>
                </a:cubicBezTo>
                <a:close/>
              </a:path>
            </a:pathLst>
          </a:custGeom>
          <a:solidFill>
            <a:srgbClr val="111317">
              <a:alpha val="80000"/>
            </a:srgbClr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57613" y="44438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778459" y="4596075"/>
            <a:ext cx="335683" cy="268546"/>
          </a:xfrm>
          <a:custGeom>
            <a:avLst/>
            <a:gdLst/>
            <a:ahLst/>
            <a:cxnLst/>
            <a:rect l="l" t="t" r="r" b="b"/>
            <a:pathLst>
              <a:path w="335683" h="268546">
                <a:moveTo>
                  <a:pt x="67137" y="50352"/>
                </a:moveTo>
                <a:cubicBezTo>
                  <a:pt x="67137" y="31837"/>
                  <a:pt x="82190" y="16784"/>
                  <a:pt x="100705" y="16784"/>
                </a:cubicBezTo>
                <a:lnTo>
                  <a:pt x="285330" y="16784"/>
                </a:lnTo>
                <a:cubicBezTo>
                  <a:pt x="303845" y="16784"/>
                  <a:pt x="318899" y="31837"/>
                  <a:pt x="318899" y="50352"/>
                </a:cubicBezTo>
                <a:lnTo>
                  <a:pt x="318899" y="176233"/>
                </a:lnTo>
                <a:lnTo>
                  <a:pt x="268546" y="176233"/>
                </a:lnTo>
                <a:lnTo>
                  <a:pt x="268546" y="167841"/>
                </a:lnTo>
                <a:cubicBezTo>
                  <a:pt x="268546" y="158558"/>
                  <a:pt x="261046" y="151057"/>
                  <a:pt x="251762" y="151057"/>
                </a:cubicBezTo>
                <a:lnTo>
                  <a:pt x="218194" y="151057"/>
                </a:lnTo>
                <a:cubicBezTo>
                  <a:pt x="208910" y="151057"/>
                  <a:pt x="201410" y="158558"/>
                  <a:pt x="201410" y="167841"/>
                </a:cubicBezTo>
                <a:lnTo>
                  <a:pt x="201410" y="176233"/>
                </a:lnTo>
                <a:lnTo>
                  <a:pt x="133696" y="176233"/>
                </a:lnTo>
                <a:cubicBezTo>
                  <a:pt x="139413" y="166373"/>
                  <a:pt x="142665" y="154886"/>
                  <a:pt x="142665" y="142665"/>
                </a:cubicBezTo>
                <a:cubicBezTo>
                  <a:pt x="142665" y="105583"/>
                  <a:pt x="112611" y="75529"/>
                  <a:pt x="75529" y="75529"/>
                </a:cubicBezTo>
                <a:cubicBezTo>
                  <a:pt x="72696" y="75529"/>
                  <a:pt x="69864" y="75686"/>
                  <a:pt x="67137" y="76053"/>
                </a:cubicBezTo>
                <a:lnTo>
                  <a:pt x="67137" y="50352"/>
                </a:lnTo>
                <a:close/>
                <a:moveTo>
                  <a:pt x="174660" y="234978"/>
                </a:moveTo>
                <a:cubicBezTo>
                  <a:pt x="171985" y="222285"/>
                  <a:pt x="166111" y="210798"/>
                  <a:pt x="157823" y="201410"/>
                </a:cubicBezTo>
                <a:lnTo>
                  <a:pt x="318899" y="201410"/>
                </a:lnTo>
                <a:cubicBezTo>
                  <a:pt x="318899" y="219925"/>
                  <a:pt x="303845" y="234978"/>
                  <a:pt x="285330" y="234978"/>
                </a:cubicBezTo>
                <a:lnTo>
                  <a:pt x="174660" y="234978"/>
                </a:lnTo>
                <a:close/>
                <a:moveTo>
                  <a:pt x="33568" y="142665"/>
                </a:moveTo>
                <a:cubicBezTo>
                  <a:pt x="33568" y="119507"/>
                  <a:pt x="52370" y="100705"/>
                  <a:pt x="75529" y="100705"/>
                </a:cubicBezTo>
                <a:cubicBezTo>
                  <a:pt x="98687" y="100705"/>
                  <a:pt x="117489" y="119507"/>
                  <a:pt x="117489" y="142665"/>
                </a:cubicBezTo>
                <a:cubicBezTo>
                  <a:pt x="117489" y="165824"/>
                  <a:pt x="98687" y="184626"/>
                  <a:pt x="75529" y="184626"/>
                </a:cubicBezTo>
                <a:cubicBezTo>
                  <a:pt x="52370" y="184626"/>
                  <a:pt x="33568" y="165824"/>
                  <a:pt x="33568" y="142665"/>
                </a:cubicBezTo>
                <a:close/>
                <a:moveTo>
                  <a:pt x="0" y="251762"/>
                </a:moveTo>
                <a:cubicBezTo>
                  <a:pt x="0" y="223963"/>
                  <a:pt x="22554" y="201410"/>
                  <a:pt x="50352" y="201410"/>
                </a:cubicBezTo>
                <a:lnTo>
                  <a:pt x="100705" y="201410"/>
                </a:lnTo>
                <a:cubicBezTo>
                  <a:pt x="128504" y="201410"/>
                  <a:pt x="151057" y="223963"/>
                  <a:pt x="151057" y="251762"/>
                </a:cubicBezTo>
                <a:cubicBezTo>
                  <a:pt x="151057" y="261046"/>
                  <a:pt x="143557" y="268546"/>
                  <a:pt x="134273" y="268546"/>
                </a:cubicBezTo>
                <a:lnTo>
                  <a:pt x="16784" y="268546"/>
                </a:lnTo>
                <a:cubicBezTo>
                  <a:pt x="7500" y="268546"/>
                  <a:pt x="0" y="261046"/>
                  <a:pt x="0" y="25176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9"/>
          <p:cNvSpPr/>
          <p:nvPr/>
        </p:nvSpPr>
        <p:spPr>
          <a:xfrm>
            <a:off x="1697809" y="5160022"/>
            <a:ext cx="248852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Educator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06761" y="5482277"/>
            <a:ext cx="247062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Deserves to be heard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70716" y="4221109"/>
            <a:ext cx="2844601" cy="1698804"/>
          </a:xfrm>
          <a:custGeom>
            <a:avLst/>
            <a:gdLst/>
            <a:ahLst/>
            <a:cxnLst/>
            <a:rect l="l" t="t" r="r" b="b"/>
            <a:pathLst>
              <a:path w="2844601" h="1698804">
                <a:moveTo>
                  <a:pt x="71605" y="0"/>
                </a:moveTo>
                <a:lnTo>
                  <a:pt x="2772997" y="0"/>
                </a:lnTo>
                <a:cubicBezTo>
                  <a:pt x="2812543" y="0"/>
                  <a:pt x="2844601" y="32058"/>
                  <a:pt x="2844601" y="71605"/>
                </a:cubicBezTo>
                <a:lnTo>
                  <a:pt x="2844601" y="1627199"/>
                </a:lnTo>
                <a:cubicBezTo>
                  <a:pt x="2844601" y="1666745"/>
                  <a:pt x="2812543" y="1698804"/>
                  <a:pt x="2772997" y="1698804"/>
                </a:cubicBezTo>
                <a:lnTo>
                  <a:pt x="71605" y="1698804"/>
                </a:lnTo>
                <a:cubicBezTo>
                  <a:pt x="32058" y="1698804"/>
                  <a:pt x="0" y="1666745"/>
                  <a:pt x="0" y="1627199"/>
                </a:cubicBezTo>
                <a:lnTo>
                  <a:pt x="0" y="71605"/>
                </a:lnTo>
                <a:cubicBezTo>
                  <a:pt x="0" y="32058"/>
                  <a:pt x="32058" y="0"/>
                  <a:pt x="71605" y="0"/>
                </a:cubicBezTo>
                <a:close/>
              </a:path>
            </a:pathLst>
          </a:custGeom>
          <a:solidFill>
            <a:srgbClr val="111317">
              <a:alpha val="80000"/>
            </a:srgbClr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8556" y="44438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46186" y="4596075"/>
            <a:ext cx="302115" cy="268546"/>
          </a:xfrm>
          <a:custGeom>
            <a:avLst/>
            <a:gdLst/>
            <a:ahLst/>
            <a:cxnLst/>
            <a:rect l="l" t="t" r="r" b="b"/>
            <a:pathLst>
              <a:path w="302115" h="268546">
                <a:moveTo>
                  <a:pt x="162334" y="-9913"/>
                </a:moveTo>
                <a:cubicBezTo>
                  <a:pt x="160184" y="-14109"/>
                  <a:pt x="155830" y="-16784"/>
                  <a:pt x="151110" y="-16784"/>
                </a:cubicBezTo>
                <a:cubicBezTo>
                  <a:pt x="146389" y="-16784"/>
                  <a:pt x="142036" y="-14109"/>
                  <a:pt x="139885" y="-9913"/>
                </a:cubicBezTo>
                <a:lnTo>
                  <a:pt x="101282" y="65720"/>
                </a:lnTo>
                <a:lnTo>
                  <a:pt x="17414" y="79043"/>
                </a:lnTo>
                <a:cubicBezTo>
                  <a:pt x="12745" y="79777"/>
                  <a:pt x="8864" y="83081"/>
                  <a:pt x="7396" y="87592"/>
                </a:cubicBezTo>
                <a:cubicBezTo>
                  <a:pt x="5927" y="92103"/>
                  <a:pt x="7133" y="97033"/>
                  <a:pt x="10438" y="100390"/>
                </a:cubicBezTo>
                <a:lnTo>
                  <a:pt x="70441" y="160446"/>
                </a:lnTo>
                <a:lnTo>
                  <a:pt x="57223" y="244314"/>
                </a:lnTo>
                <a:cubicBezTo>
                  <a:pt x="56489" y="248982"/>
                  <a:pt x="58430" y="253703"/>
                  <a:pt x="62259" y="256483"/>
                </a:cubicBezTo>
                <a:cubicBezTo>
                  <a:pt x="66088" y="259263"/>
                  <a:pt x="71123" y="259682"/>
                  <a:pt x="75371" y="257532"/>
                </a:cubicBezTo>
                <a:lnTo>
                  <a:pt x="151110" y="219033"/>
                </a:lnTo>
                <a:lnTo>
                  <a:pt x="226796" y="257532"/>
                </a:lnTo>
                <a:cubicBezTo>
                  <a:pt x="230992" y="259682"/>
                  <a:pt x="236079" y="259263"/>
                  <a:pt x="239908" y="256483"/>
                </a:cubicBezTo>
                <a:cubicBezTo>
                  <a:pt x="243737" y="253703"/>
                  <a:pt x="245678" y="249035"/>
                  <a:pt x="244944" y="244314"/>
                </a:cubicBezTo>
                <a:lnTo>
                  <a:pt x="231674" y="160446"/>
                </a:lnTo>
                <a:lnTo>
                  <a:pt x="291677" y="100390"/>
                </a:lnTo>
                <a:cubicBezTo>
                  <a:pt x="295034" y="97033"/>
                  <a:pt x="296188" y="92103"/>
                  <a:pt x="294719" y="87592"/>
                </a:cubicBezTo>
                <a:cubicBezTo>
                  <a:pt x="293250" y="83081"/>
                  <a:pt x="289422" y="79777"/>
                  <a:pt x="284701" y="79043"/>
                </a:cubicBezTo>
                <a:lnTo>
                  <a:pt x="200885" y="65720"/>
                </a:lnTo>
                <a:lnTo>
                  <a:pt x="162334" y="-991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4"/>
          <p:cNvSpPr/>
          <p:nvPr/>
        </p:nvSpPr>
        <p:spPr>
          <a:xfrm>
            <a:off x="4848752" y="5160022"/>
            <a:ext cx="248852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Creator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57704" y="5482277"/>
            <a:ext cx="247062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Deserves to shine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821659" y="4221109"/>
            <a:ext cx="2844601" cy="1698804"/>
          </a:xfrm>
          <a:custGeom>
            <a:avLst/>
            <a:gdLst/>
            <a:ahLst/>
            <a:cxnLst/>
            <a:rect l="l" t="t" r="r" b="b"/>
            <a:pathLst>
              <a:path w="2844601" h="1698804">
                <a:moveTo>
                  <a:pt x="71605" y="0"/>
                </a:moveTo>
                <a:lnTo>
                  <a:pt x="2772997" y="0"/>
                </a:lnTo>
                <a:cubicBezTo>
                  <a:pt x="2812543" y="0"/>
                  <a:pt x="2844601" y="32058"/>
                  <a:pt x="2844601" y="71605"/>
                </a:cubicBezTo>
                <a:lnTo>
                  <a:pt x="2844601" y="1627199"/>
                </a:lnTo>
                <a:cubicBezTo>
                  <a:pt x="2844601" y="1666745"/>
                  <a:pt x="2812543" y="1698804"/>
                  <a:pt x="2772997" y="1698804"/>
                </a:cubicBezTo>
                <a:lnTo>
                  <a:pt x="71605" y="1698804"/>
                </a:lnTo>
                <a:cubicBezTo>
                  <a:pt x="32058" y="1698804"/>
                  <a:pt x="0" y="1666745"/>
                  <a:pt x="0" y="1627199"/>
                </a:cubicBezTo>
                <a:lnTo>
                  <a:pt x="0" y="71605"/>
                </a:lnTo>
                <a:cubicBezTo>
                  <a:pt x="0" y="32058"/>
                  <a:pt x="32058" y="0"/>
                  <a:pt x="71605" y="0"/>
                </a:cubicBezTo>
                <a:close/>
              </a:path>
            </a:pathLst>
          </a:custGeom>
          <a:solidFill>
            <a:srgbClr val="111317">
              <a:alpha val="80000"/>
            </a:srgbClr>
          </a:solidFill>
          <a:ln w="22578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59499" y="444389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9097129" y="4596075"/>
            <a:ext cx="302115" cy="268546"/>
          </a:xfrm>
          <a:custGeom>
            <a:avLst/>
            <a:gdLst/>
            <a:ahLst/>
            <a:cxnLst/>
            <a:rect l="l" t="t" r="r" b="b"/>
            <a:pathLst>
              <a:path w="302115" h="268546">
                <a:moveTo>
                  <a:pt x="25176" y="102698"/>
                </a:moveTo>
                <a:lnTo>
                  <a:pt x="134903" y="147858"/>
                </a:lnTo>
                <a:cubicBezTo>
                  <a:pt x="140043" y="149956"/>
                  <a:pt x="145498" y="151057"/>
                  <a:pt x="151057" y="151057"/>
                </a:cubicBezTo>
                <a:cubicBezTo>
                  <a:pt x="156617" y="151057"/>
                  <a:pt x="162072" y="149956"/>
                  <a:pt x="167212" y="147858"/>
                </a:cubicBezTo>
                <a:lnTo>
                  <a:pt x="294352" y="95512"/>
                </a:lnTo>
                <a:cubicBezTo>
                  <a:pt x="299072" y="93572"/>
                  <a:pt x="302115" y="89008"/>
                  <a:pt x="302115" y="83921"/>
                </a:cubicBezTo>
                <a:cubicBezTo>
                  <a:pt x="302115" y="78833"/>
                  <a:pt x="299072" y="74270"/>
                  <a:pt x="294352" y="72329"/>
                </a:cubicBezTo>
                <a:lnTo>
                  <a:pt x="167212" y="19984"/>
                </a:lnTo>
                <a:cubicBezTo>
                  <a:pt x="162072" y="17886"/>
                  <a:pt x="156617" y="16784"/>
                  <a:pt x="151057" y="16784"/>
                </a:cubicBezTo>
                <a:cubicBezTo>
                  <a:pt x="145498" y="16784"/>
                  <a:pt x="140043" y="17886"/>
                  <a:pt x="134903" y="19984"/>
                </a:cubicBezTo>
                <a:lnTo>
                  <a:pt x="7763" y="72329"/>
                </a:lnTo>
                <a:cubicBezTo>
                  <a:pt x="3042" y="74270"/>
                  <a:pt x="0" y="78833"/>
                  <a:pt x="0" y="83921"/>
                </a:cubicBezTo>
                <a:lnTo>
                  <a:pt x="0" y="239174"/>
                </a:lnTo>
                <a:cubicBezTo>
                  <a:pt x="0" y="246150"/>
                  <a:pt x="5612" y="251762"/>
                  <a:pt x="12588" y="251762"/>
                </a:cubicBezTo>
                <a:cubicBezTo>
                  <a:pt x="19564" y="251762"/>
                  <a:pt x="25176" y="246150"/>
                  <a:pt x="25176" y="239174"/>
                </a:cubicBezTo>
                <a:lnTo>
                  <a:pt x="25176" y="102698"/>
                </a:lnTo>
                <a:close/>
                <a:moveTo>
                  <a:pt x="50352" y="140305"/>
                </a:moveTo>
                <a:lnTo>
                  <a:pt x="50352" y="201410"/>
                </a:lnTo>
                <a:cubicBezTo>
                  <a:pt x="50352" y="229208"/>
                  <a:pt x="95460" y="251762"/>
                  <a:pt x="151057" y="251762"/>
                </a:cubicBezTo>
                <a:cubicBezTo>
                  <a:pt x="206655" y="251762"/>
                  <a:pt x="251762" y="229208"/>
                  <a:pt x="251762" y="201410"/>
                </a:cubicBezTo>
                <a:lnTo>
                  <a:pt x="251762" y="140252"/>
                </a:lnTo>
                <a:lnTo>
                  <a:pt x="176810" y="171146"/>
                </a:lnTo>
                <a:cubicBezTo>
                  <a:pt x="168628" y="174503"/>
                  <a:pt x="159921" y="176233"/>
                  <a:pt x="151057" y="176233"/>
                </a:cubicBezTo>
                <a:cubicBezTo>
                  <a:pt x="142193" y="176233"/>
                  <a:pt x="133486" y="174503"/>
                  <a:pt x="125304" y="171146"/>
                </a:cubicBezTo>
                <a:lnTo>
                  <a:pt x="50352" y="14025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19"/>
          <p:cNvSpPr/>
          <p:nvPr/>
        </p:nvSpPr>
        <p:spPr>
          <a:xfrm>
            <a:off x="7999695" y="5160022"/>
            <a:ext cx="248852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Student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08646" y="5482277"/>
            <a:ext cx="2470626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Deserves access to wisdom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75148" y="6222268"/>
            <a:ext cx="4044108" cy="1054293"/>
          </a:xfrm>
          <a:custGeom>
            <a:avLst/>
            <a:gdLst/>
            <a:ahLst/>
            <a:cxnLst/>
            <a:rect l="l" t="t" r="r" b="b"/>
            <a:pathLst>
              <a:path w="4044108" h="1054293">
                <a:moveTo>
                  <a:pt x="71608" y="0"/>
                </a:moveTo>
                <a:lnTo>
                  <a:pt x="3972500" y="0"/>
                </a:lnTo>
                <a:cubicBezTo>
                  <a:pt x="4012048" y="0"/>
                  <a:pt x="4044108" y="32060"/>
                  <a:pt x="4044108" y="71608"/>
                </a:cubicBezTo>
                <a:lnTo>
                  <a:pt x="4044108" y="982685"/>
                </a:lnTo>
                <a:cubicBezTo>
                  <a:pt x="4044108" y="1022233"/>
                  <a:pt x="4012048" y="1054293"/>
                  <a:pt x="3972500" y="1054293"/>
                </a:cubicBezTo>
                <a:lnTo>
                  <a:pt x="71608" y="1054293"/>
                </a:lnTo>
                <a:cubicBezTo>
                  <a:pt x="32060" y="1054293"/>
                  <a:pt x="0" y="1022233"/>
                  <a:pt x="0" y="982685"/>
                </a:cubicBezTo>
                <a:lnTo>
                  <a:pt x="0" y="71608"/>
                </a:lnTo>
                <a:cubicBezTo>
                  <a:pt x="0" y="32086"/>
                  <a:pt x="32086" y="0"/>
                  <a:pt x="7160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2578">
            <a:solidFill>
              <a:srgbClr val="4ECD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44233" y="6445066"/>
            <a:ext cx="370593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PulsePoint AI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257660" y="6803128"/>
            <a:ext cx="367908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dirty="0">
                <a:solidFill>
                  <a:srgbClr val="8A8F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education, one viral moment at a 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PulsePoint AI</dc:title>
  <dc:subject>PulsePoint AI</dc:subject>
  <dc:creator>Kimi</dc:creator>
  <cp:lastModifiedBy>Kimi</cp:lastModifiedBy>
  <cp:revision>1</cp:revision>
  <dcterms:created xsi:type="dcterms:W3CDTF">2026-01-17T09:07:07Z</dcterms:created>
  <dcterms:modified xsi:type="dcterms:W3CDTF">2026-01-17T09:07:07Z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{"Label":"PulsePoint AI","ContentProducer":"001191110108MACG2KBH8F10000","ProduceID":"19bcb2eb-8272-8371-8000-00004291ef8d","ReservedCode1":"","ContentPropagator":"001191110108MACG2KBH8F20000","PropagateID":"19bcb2eb-8272-8371-8000-00004291ef8d","ReservedCode2":""}</vt:lpwstr>
  </property>
</Properties>
</file>